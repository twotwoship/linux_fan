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317" r:id="rId4"/>
    <p:sldId id="318" r:id="rId5"/>
    <p:sldId id="320" r:id="rId6"/>
    <p:sldId id="319" r:id="rId7"/>
    <p:sldId id="321" r:id="rId8"/>
    <p:sldId id="322" r:id="rId9"/>
    <p:sldId id="323" r:id="rId10"/>
    <p:sldId id="325" r:id="rId11"/>
    <p:sldId id="324" r:id="rId12"/>
    <p:sldId id="326" r:id="rId13"/>
    <p:sldId id="327" r:id="rId14"/>
    <p:sldId id="328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3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0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38F5D-2E6C-4456-BB2D-28F89E692B20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FD6BF-0FEB-422B-A474-E7CD5A320B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31340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38F5D-2E6C-4456-BB2D-28F89E692B20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FD6BF-0FEB-422B-A474-E7CD5A320B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4349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38F5D-2E6C-4456-BB2D-28F89E692B20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FD6BF-0FEB-422B-A474-E7CD5A320B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3213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38F5D-2E6C-4456-BB2D-28F89E692B20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FD6BF-0FEB-422B-A474-E7CD5A320B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4532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38F5D-2E6C-4456-BB2D-28F89E692B20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FD6BF-0FEB-422B-A474-E7CD5A320B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46584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38F5D-2E6C-4456-BB2D-28F89E692B20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FD6BF-0FEB-422B-A474-E7CD5A320B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9126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38F5D-2E6C-4456-BB2D-28F89E692B20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FD6BF-0FEB-422B-A474-E7CD5A320B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7903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38F5D-2E6C-4456-BB2D-28F89E692B20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FD6BF-0FEB-422B-A474-E7CD5A320B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9535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38F5D-2E6C-4456-BB2D-28F89E692B20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FD6BF-0FEB-422B-A474-E7CD5A320B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8946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38F5D-2E6C-4456-BB2D-28F89E692B20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FD6BF-0FEB-422B-A474-E7CD5A320B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2250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38F5D-2E6C-4456-BB2D-28F89E692B20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FD6BF-0FEB-422B-A474-E7CD5A320B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9284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138F5D-2E6C-4456-BB2D-28F89E692B20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9FD6BF-0FEB-422B-A474-E7CD5A320B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7197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73324" y="1927428"/>
            <a:ext cx="7148146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600" b="1" dirty="0" smtClean="0">
                <a:solidFill>
                  <a:srgbClr val="FF0000"/>
                </a:solidFill>
              </a:rPr>
              <a:t>I2C</a:t>
            </a:r>
          </a:p>
          <a:p>
            <a:pPr algn="ctr"/>
            <a:r>
              <a:rPr lang="en-US" altLang="ko-KR" sz="4000" b="1" dirty="0" smtClean="0">
                <a:solidFill>
                  <a:srgbClr val="000000"/>
                </a:solidFill>
                <a:latin typeface="inherit"/>
              </a:rPr>
              <a:t>( </a:t>
            </a:r>
            <a:r>
              <a:rPr lang="en-US" altLang="ko-KR" sz="4000" b="1" dirty="0" smtClean="0">
                <a:solidFill>
                  <a:srgbClr val="FF0000"/>
                </a:solidFill>
                <a:latin typeface="inherit"/>
              </a:rPr>
              <a:t>I</a:t>
            </a:r>
            <a:r>
              <a:rPr lang="en-US" altLang="ko-KR" sz="4000" b="1" dirty="0" smtClean="0">
                <a:latin typeface="inherit"/>
              </a:rPr>
              <a:t>nter</a:t>
            </a:r>
            <a:r>
              <a:rPr lang="en-US" altLang="ko-KR" sz="4000" b="1" dirty="0" smtClean="0">
                <a:solidFill>
                  <a:srgbClr val="FF0000"/>
                </a:solidFill>
                <a:latin typeface="inherit"/>
              </a:rPr>
              <a:t> </a:t>
            </a:r>
            <a:r>
              <a:rPr lang="en-US" altLang="ko-KR" sz="4000" b="1" dirty="0" err="1" smtClean="0">
                <a:solidFill>
                  <a:srgbClr val="FF0000"/>
                </a:solidFill>
                <a:latin typeface="inherit"/>
              </a:rPr>
              <a:t>I</a:t>
            </a:r>
            <a:r>
              <a:rPr lang="en-US" altLang="ko-KR" sz="4000" b="1" dirty="0" err="1" smtClean="0">
                <a:latin typeface="inherit"/>
              </a:rPr>
              <a:t>ntergrated</a:t>
            </a:r>
            <a:r>
              <a:rPr lang="en-US" altLang="ko-KR" sz="4000" b="1" dirty="0" smtClean="0">
                <a:solidFill>
                  <a:srgbClr val="FF0000"/>
                </a:solidFill>
                <a:latin typeface="inherit"/>
              </a:rPr>
              <a:t> C</a:t>
            </a:r>
            <a:r>
              <a:rPr lang="en-US" altLang="ko-KR" sz="4000" b="1" dirty="0" smtClean="0">
                <a:latin typeface="inherit"/>
              </a:rPr>
              <a:t>ircuit</a:t>
            </a:r>
            <a:r>
              <a:rPr lang="en-US" altLang="ko-KR" sz="4000" b="1" dirty="0" smtClean="0">
                <a:solidFill>
                  <a:srgbClr val="000000"/>
                </a:solidFill>
                <a:latin typeface="inherit"/>
              </a:rPr>
              <a:t> )</a:t>
            </a:r>
            <a:endParaRPr lang="ko-KR" altLang="en-US" sz="4000" b="1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680439" y="5322278"/>
            <a:ext cx="714814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400" b="1" smtClean="0"/>
              <a:t>Mar </a:t>
            </a:r>
            <a:r>
              <a:rPr lang="en-US" altLang="ko-KR" sz="2400" b="1" smtClean="0"/>
              <a:t>19,2026</a:t>
            </a:r>
            <a:endParaRPr lang="en-US" altLang="ko-KR" sz="2400" b="1" dirty="0" smtClean="0"/>
          </a:p>
          <a:p>
            <a:pPr algn="r"/>
            <a:r>
              <a:rPr lang="en-US" altLang="ko-KR" sz="2400" b="1" dirty="0" smtClean="0"/>
              <a:t>by SIKWON</a:t>
            </a:r>
          </a:p>
          <a:p>
            <a:pPr algn="r"/>
            <a:endParaRPr lang="en-US" altLang="ko-KR" sz="2400" b="1" dirty="0"/>
          </a:p>
          <a:p>
            <a:pPr algn="r"/>
            <a:r>
              <a:rPr lang="ko-KR" altLang="en-US" sz="2400" b="1" dirty="0"/>
              <a:t> </a:t>
            </a:r>
          </a:p>
          <a:p>
            <a:endParaRPr lang="ko-KR" altLang="en-US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8209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379379" y="750076"/>
            <a:ext cx="11252844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" name="직각 삼각형 4"/>
          <p:cNvSpPr/>
          <p:nvPr/>
        </p:nvSpPr>
        <p:spPr>
          <a:xfrm>
            <a:off x="11438792" y="-2"/>
            <a:ext cx="753207" cy="753207"/>
          </a:xfrm>
          <a:prstGeom prst="rtTriangle">
            <a:avLst/>
          </a:prstGeom>
          <a:effectLst>
            <a:outerShdw blurRad="50800" dist="38100" algn="l" rotWithShape="0">
              <a:prstClr val="black">
                <a:alpha val="5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79379" y="222713"/>
            <a:ext cx="10294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 smtClean="0"/>
              <a:t> </a:t>
            </a:r>
            <a:r>
              <a:rPr lang="ko-KR" altLang="en-US" sz="2800" b="1" dirty="0" smtClean="0"/>
              <a:t>목차</a:t>
            </a:r>
            <a:endParaRPr lang="ko-KR" altLang="en-US" sz="28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379379" y="2347546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b="1" dirty="0"/>
          </a:p>
          <a:p>
            <a:endParaRPr lang="ko-KR" alt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995494" y="1188116"/>
            <a:ext cx="673294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b="1" dirty="0" smtClean="0"/>
          </a:p>
          <a:p>
            <a:r>
              <a:rPr lang="en-US" altLang="ko-KR" b="1" dirty="0" smtClean="0"/>
              <a:t>1.</a:t>
            </a:r>
            <a:r>
              <a:rPr lang="ko-KR" altLang="en-US" b="1" dirty="0"/>
              <a:t> </a:t>
            </a:r>
            <a:r>
              <a:rPr lang="en-US" altLang="ko-KR" b="1" dirty="0" smtClean="0"/>
              <a:t>I2C </a:t>
            </a:r>
            <a:r>
              <a:rPr lang="ko-KR" altLang="en-US" b="1" dirty="0" smtClean="0"/>
              <a:t>개요</a:t>
            </a:r>
            <a:endParaRPr lang="en-US" altLang="ko-KR" b="1" dirty="0" smtClean="0"/>
          </a:p>
          <a:p>
            <a:r>
              <a:rPr lang="en-US" altLang="ko-KR" b="1" dirty="0" smtClean="0"/>
              <a:t>2</a:t>
            </a:r>
            <a:r>
              <a:rPr lang="en-US" altLang="ko-KR" b="1" dirty="0"/>
              <a:t>. I2C </a:t>
            </a:r>
            <a:r>
              <a:rPr lang="ko-KR" altLang="en-US" b="1" dirty="0"/>
              <a:t>통신 타이밍 </a:t>
            </a:r>
            <a:r>
              <a:rPr lang="en-US" altLang="ko-KR" b="1" dirty="0"/>
              <a:t>Sequence </a:t>
            </a:r>
            <a:endParaRPr lang="en-US" altLang="ko-KR" b="1" dirty="0" smtClean="0"/>
          </a:p>
          <a:p>
            <a:r>
              <a:rPr lang="en-US" altLang="ko-KR" b="1" dirty="0" smtClean="0"/>
              <a:t>3. I2C </a:t>
            </a:r>
            <a:r>
              <a:rPr lang="en-US" altLang="ko-KR" b="1" dirty="0"/>
              <a:t>protocol </a:t>
            </a:r>
            <a:r>
              <a:rPr lang="ko-KR" altLang="en-US" b="1" dirty="0" err="1"/>
              <a:t>오실로스코프로</a:t>
            </a:r>
            <a:r>
              <a:rPr lang="ko-KR" altLang="en-US" b="1" dirty="0"/>
              <a:t> 분석 </a:t>
            </a:r>
            <a:r>
              <a:rPr lang="ko-KR" altLang="en-US" b="1" dirty="0" smtClean="0"/>
              <a:t>하기</a:t>
            </a:r>
            <a:endParaRPr lang="en-US" altLang="ko-KR" b="1" dirty="0" smtClean="0"/>
          </a:p>
          <a:p>
            <a:r>
              <a:rPr lang="en-US" altLang="ko-KR" b="1" dirty="0"/>
              <a:t>4</a:t>
            </a:r>
            <a:r>
              <a:rPr lang="en-US" altLang="ko-KR" b="1" dirty="0" smtClean="0"/>
              <a:t>. I2C-LCD</a:t>
            </a:r>
            <a:endParaRPr lang="en-US" altLang="ko-KR" b="1" dirty="0"/>
          </a:p>
          <a:p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594628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379379" y="750076"/>
            <a:ext cx="11252844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" name="직각 삼각형 4"/>
          <p:cNvSpPr/>
          <p:nvPr/>
        </p:nvSpPr>
        <p:spPr>
          <a:xfrm>
            <a:off x="11438792" y="-2"/>
            <a:ext cx="753207" cy="753207"/>
          </a:xfrm>
          <a:prstGeom prst="rtTriangle">
            <a:avLst/>
          </a:prstGeom>
          <a:effectLst>
            <a:outerShdw blurRad="50800" dist="38100" algn="l" rotWithShape="0">
              <a:prstClr val="black">
                <a:alpha val="5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2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79379" y="222713"/>
            <a:ext cx="17043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 smtClean="0"/>
              <a:t> I2C </a:t>
            </a:r>
            <a:r>
              <a:rPr lang="ko-KR" altLang="en-US" sz="2800" b="1" dirty="0" smtClean="0"/>
              <a:t>통신</a:t>
            </a:r>
            <a:endParaRPr lang="en-US" altLang="ko-KR" sz="28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704694" y="2343402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b="1" dirty="0"/>
          </a:p>
          <a:p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38274" y="858713"/>
            <a:ext cx="26642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 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 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0" y="1057742"/>
            <a:ext cx="1574470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1"/>
            <a:r>
              <a:rPr lang="en-US" altLang="ko-KR" sz="1400" dirty="0" smtClean="0"/>
              <a:t>.</a:t>
            </a:r>
            <a:endParaRPr lang="ko-KR" altLang="en-US" dirty="0"/>
          </a:p>
          <a:p>
            <a:r>
              <a:rPr lang="en-US" altLang="ko-KR" dirty="0" smtClean="0"/>
              <a:t>                 </a:t>
            </a:r>
          </a:p>
          <a:p>
            <a:r>
              <a:rPr lang="en-US" altLang="ko-KR" dirty="0" smtClean="0"/>
              <a:t>      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128572"/>
            <a:ext cx="92974" cy="2000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3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ea typeface="Pretendard Variable"/>
              </a:rPr>
              <a:t>.</a:t>
            </a:r>
            <a:r>
              <a:rPr kumimoji="0" lang="ko-KR" altLang="ko-KR" sz="13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Pretendard Variable"/>
              </a:rPr>
              <a:t> </a:t>
            </a:r>
            <a:endParaRPr kumimoji="0" lang="ko-KR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383239" y="759971"/>
            <a:ext cx="11305487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altLang="ko-KR" sz="2000" b="1" dirty="0" smtClean="0">
                <a:solidFill>
                  <a:srgbClr val="000000"/>
                </a:solidFill>
                <a:latin typeface="inherit"/>
              </a:rPr>
              <a:t>1. </a:t>
            </a:r>
            <a:r>
              <a:rPr lang="ko-KR" altLang="en-US" sz="2000" b="1" dirty="0" smtClean="0">
                <a:solidFill>
                  <a:srgbClr val="000000"/>
                </a:solidFill>
                <a:latin typeface="inherit"/>
              </a:rPr>
              <a:t>동기</a:t>
            </a:r>
            <a:r>
              <a:rPr lang="ko-KR" altLang="en-US" sz="2000" b="1" dirty="0">
                <a:solidFill>
                  <a:srgbClr val="000000"/>
                </a:solidFill>
                <a:latin typeface="inherit"/>
              </a:rPr>
              <a:t>식</a:t>
            </a:r>
            <a:r>
              <a:rPr lang="ko-KR" altLang="en-US" sz="2000" b="1" dirty="0" smtClean="0">
                <a:solidFill>
                  <a:srgbClr val="000000"/>
                </a:solidFill>
                <a:latin typeface="inherit"/>
              </a:rPr>
              <a:t> </a:t>
            </a:r>
            <a:r>
              <a:rPr lang="ko-KR" altLang="en-US" sz="2000" b="1" dirty="0">
                <a:solidFill>
                  <a:srgbClr val="000000"/>
                </a:solidFill>
                <a:latin typeface="inherit"/>
              </a:rPr>
              <a:t>시리얼 통신</a:t>
            </a:r>
            <a:endParaRPr lang="ko-KR" altLang="en-US" sz="2000" dirty="0">
              <a:solidFill>
                <a:srgbClr val="557A74"/>
              </a:solidFill>
              <a:latin typeface="se-nanumgothic"/>
            </a:endParaRPr>
          </a:p>
          <a:p>
            <a:pPr fontAlgn="base"/>
            <a:r>
              <a:rPr lang="en-US" altLang="ko-KR" sz="1600" dirty="0" smtClean="0"/>
              <a:t>   - </a:t>
            </a:r>
            <a:r>
              <a:rPr lang="ko-KR" altLang="en-US" sz="1600" dirty="0"/>
              <a:t>아이</a:t>
            </a:r>
            <a:r>
              <a:rPr lang="en-US" altLang="ko-KR" sz="1600" dirty="0"/>
              <a:t>-</a:t>
            </a:r>
            <a:r>
              <a:rPr lang="ko-KR" altLang="en-US" sz="1600" dirty="0"/>
              <a:t>투</a:t>
            </a:r>
            <a:r>
              <a:rPr lang="en-US" altLang="ko-KR" sz="1600" dirty="0"/>
              <a:t>-</a:t>
            </a:r>
            <a:r>
              <a:rPr lang="ko-KR" altLang="en-US" sz="1600" dirty="0"/>
              <a:t>씨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아이스퀘어</a:t>
            </a:r>
            <a:r>
              <a:rPr lang="en-US" altLang="ko-KR" sz="1600" dirty="0"/>
              <a:t>-</a:t>
            </a:r>
            <a:r>
              <a:rPr lang="ko-KR" altLang="en-US" sz="1600" dirty="0"/>
              <a:t>씨</a:t>
            </a:r>
            <a:r>
              <a:rPr lang="en-US" altLang="ko-KR" sz="1600" dirty="0"/>
              <a:t>, TWI(Two Wire Interface)</a:t>
            </a:r>
            <a:r>
              <a:rPr lang="ko-KR" altLang="en-US" sz="1600" dirty="0"/>
              <a:t>라고도 부름</a:t>
            </a:r>
          </a:p>
          <a:p>
            <a:pPr fontAlgn="base"/>
            <a:r>
              <a:rPr lang="en-US" altLang="ko-KR" sz="1600" dirty="0" smtClean="0"/>
              <a:t>   - </a:t>
            </a:r>
            <a:r>
              <a:rPr lang="en-US" altLang="ko-KR" sz="1600" dirty="0"/>
              <a:t>SDA : </a:t>
            </a:r>
            <a:r>
              <a:rPr lang="ko-KR" altLang="en-US" sz="1600" dirty="0"/>
              <a:t>데이터를 주고 받기 위한 선 </a:t>
            </a:r>
            <a:r>
              <a:rPr lang="en-US" altLang="ko-KR" sz="1600" dirty="0"/>
              <a:t>1</a:t>
            </a:r>
            <a:r>
              <a:rPr lang="ko-KR" altLang="en-US" sz="1600" dirty="0"/>
              <a:t>가닥</a:t>
            </a:r>
          </a:p>
          <a:p>
            <a:pPr fontAlgn="base"/>
            <a:r>
              <a:rPr lang="en-US" altLang="ko-KR" sz="1600" dirty="0" smtClean="0"/>
              <a:t>   - </a:t>
            </a:r>
            <a:r>
              <a:rPr lang="en-US" altLang="ko-KR" sz="1600" dirty="0"/>
              <a:t>SCL : </a:t>
            </a:r>
            <a:r>
              <a:rPr lang="ko-KR" altLang="en-US" sz="1600" dirty="0"/>
              <a:t>송</a:t>
            </a:r>
            <a:r>
              <a:rPr lang="en-US" altLang="ko-KR" sz="1600" dirty="0"/>
              <a:t>.</a:t>
            </a:r>
            <a:r>
              <a:rPr lang="ko-KR" altLang="en-US" sz="1600" dirty="0"/>
              <a:t>수신 동기화를 위한 선 </a:t>
            </a:r>
            <a:r>
              <a:rPr lang="en-US" altLang="ko-KR" sz="1600" dirty="0"/>
              <a:t>1</a:t>
            </a:r>
            <a:r>
              <a:rPr lang="ko-KR" altLang="en-US" sz="1600" dirty="0"/>
              <a:t>가닥 </a:t>
            </a:r>
          </a:p>
          <a:p>
            <a:pPr fontAlgn="base"/>
            <a:r>
              <a:rPr lang="en-US" altLang="ko-KR" sz="1600" dirty="0" smtClean="0"/>
              <a:t>   - </a:t>
            </a:r>
            <a:r>
              <a:rPr lang="ko-KR" altLang="en-US" sz="1600" dirty="0"/>
              <a:t>하나의 </a:t>
            </a:r>
            <a:r>
              <a:rPr lang="en-US" altLang="ko-KR" sz="1600" dirty="0"/>
              <a:t>Master</a:t>
            </a:r>
            <a:r>
              <a:rPr lang="ko-KR" altLang="en-US" sz="1600" dirty="0"/>
              <a:t>에 최대 </a:t>
            </a:r>
            <a:r>
              <a:rPr lang="en-US" altLang="ko-KR" sz="1600" dirty="0"/>
              <a:t>127</a:t>
            </a:r>
            <a:r>
              <a:rPr lang="ko-KR" altLang="en-US" sz="1600" dirty="0"/>
              <a:t>의 </a:t>
            </a:r>
            <a:r>
              <a:rPr lang="en-US" altLang="ko-KR" sz="1600" dirty="0"/>
              <a:t>slave </a:t>
            </a:r>
            <a:r>
              <a:rPr lang="ko-KR" altLang="en-US" sz="1600" dirty="0"/>
              <a:t>를 연결 가능 </a:t>
            </a:r>
          </a:p>
          <a:p>
            <a:pPr fontAlgn="base"/>
            <a:r>
              <a:rPr lang="ko-KR" altLang="en-US" sz="1600" dirty="0" smtClean="0"/>
              <a:t>     아래 </a:t>
            </a:r>
            <a:r>
              <a:rPr lang="ko-KR" altLang="en-US" sz="1600" dirty="0"/>
              <a:t>그림에 보여 지듯이 </a:t>
            </a:r>
            <a:r>
              <a:rPr lang="en-US" altLang="ko-KR" sz="1600" dirty="0"/>
              <a:t>SDA</a:t>
            </a:r>
            <a:r>
              <a:rPr lang="ko-KR" altLang="en-US" sz="1600" dirty="0"/>
              <a:t>과 </a:t>
            </a:r>
            <a:r>
              <a:rPr lang="en-US" altLang="ko-KR" sz="1600" dirty="0"/>
              <a:t>SCL</a:t>
            </a:r>
            <a:r>
              <a:rPr lang="ko-KR" altLang="en-US" sz="1600" dirty="0"/>
              <a:t>가 </a:t>
            </a:r>
            <a:r>
              <a:rPr lang="en-US" altLang="ko-KR" sz="1600" dirty="0"/>
              <a:t>VCC</a:t>
            </a:r>
            <a:r>
              <a:rPr lang="ko-KR" altLang="en-US" sz="1600" dirty="0"/>
              <a:t>에 </a:t>
            </a:r>
            <a:r>
              <a:rPr lang="en-US" altLang="ko-KR" sz="1600" dirty="0"/>
              <a:t>PULL-UP </a:t>
            </a:r>
            <a:r>
              <a:rPr lang="ko-KR" altLang="en-US" sz="1600" dirty="0"/>
              <a:t>되어 있어서 </a:t>
            </a:r>
            <a:r>
              <a:rPr lang="en-US" altLang="ko-KR" sz="1600" dirty="0"/>
              <a:t>ILDE</a:t>
            </a:r>
            <a:r>
              <a:rPr lang="ko-KR" altLang="en-US" sz="1600" dirty="0"/>
              <a:t>상태는 </a:t>
            </a:r>
            <a:r>
              <a:rPr lang="en-US" altLang="ko-KR" sz="1600" dirty="0"/>
              <a:t>HIGH</a:t>
            </a:r>
            <a:r>
              <a:rPr lang="ko-KR" altLang="en-US" sz="1600" dirty="0"/>
              <a:t>를 유지 하고 있다</a:t>
            </a:r>
            <a:r>
              <a:rPr lang="en-US" altLang="ko-KR" sz="1600" dirty="0"/>
              <a:t>.</a:t>
            </a:r>
            <a:endParaRPr lang="ko-KR" altLang="en-US" sz="1600" dirty="0"/>
          </a:p>
          <a:p>
            <a:pPr fontAlgn="base"/>
            <a:r>
              <a:rPr lang="en-US" altLang="ko-KR" sz="1600" dirty="0" smtClean="0"/>
              <a:t>   - </a:t>
            </a:r>
            <a:r>
              <a:rPr lang="en-US" altLang="ko-KR" sz="1600" dirty="0"/>
              <a:t>I2C </a:t>
            </a:r>
            <a:r>
              <a:rPr lang="ko-KR" altLang="en-US" sz="1600" dirty="0"/>
              <a:t>통신은 동기식 통신 방식</a:t>
            </a:r>
            <a:r>
              <a:rPr lang="en-US" altLang="ko-KR" sz="1600" dirty="0"/>
              <a:t>(</a:t>
            </a:r>
            <a:r>
              <a:rPr lang="ko-KR" altLang="en-US" sz="1600" dirty="0"/>
              <a:t>클럭 신호를 이용해서 데이터의 전송 타이밍을 맞춤</a:t>
            </a:r>
            <a:r>
              <a:rPr lang="en-US" altLang="ko-KR" sz="1600" dirty="0"/>
              <a:t>) </a:t>
            </a:r>
            <a:r>
              <a:rPr lang="ko-KR" altLang="en-US" sz="1600" dirty="0"/>
              <a:t>으로</a:t>
            </a:r>
          </a:p>
          <a:p>
            <a:pPr fontAlgn="base"/>
            <a:r>
              <a:rPr lang="ko-KR" altLang="en-US" sz="1600" dirty="0" smtClean="0"/>
              <a:t>     시리얼 </a:t>
            </a:r>
            <a:r>
              <a:rPr lang="ko-KR" altLang="en-US" sz="1600" dirty="0"/>
              <a:t>통신</a:t>
            </a:r>
            <a:r>
              <a:rPr lang="en-US" altLang="ko-KR" sz="1600" dirty="0"/>
              <a:t>(UART) </a:t>
            </a:r>
            <a:r>
              <a:rPr lang="ko-KR" altLang="en-US" sz="1600" dirty="0"/>
              <a:t>처럼 </a:t>
            </a:r>
            <a:r>
              <a:rPr lang="ko-KR" altLang="en-US" sz="1600" dirty="0" err="1"/>
              <a:t>통신속도</a:t>
            </a:r>
            <a:r>
              <a:rPr lang="en-US" altLang="ko-KR" sz="1600" dirty="0"/>
              <a:t>(</a:t>
            </a:r>
            <a:r>
              <a:rPr lang="ko-KR" altLang="en-US" sz="1600" dirty="0"/>
              <a:t>예</a:t>
            </a:r>
            <a:r>
              <a:rPr lang="en-US" altLang="ko-KR" sz="1600" dirty="0"/>
              <a:t>: 9600bps, 115200bps </a:t>
            </a:r>
            <a:r>
              <a:rPr lang="ko-KR" altLang="en-US" sz="1600" dirty="0"/>
              <a:t>등</a:t>
            </a:r>
            <a:r>
              <a:rPr lang="en-US" altLang="ko-KR" sz="1600" dirty="0"/>
              <a:t>)</a:t>
            </a:r>
            <a:r>
              <a:rPr lang="ko-KR" altLang="en-US" sz="1600" dirty="0"/>
              <a:t>가 따로 정해져 있지 </a:t>
            </a:r>
            <a:r>
              <a:rPr lang="ko-KR" altLang="en-US" sz="1600" dirty="0" smtClean="0"/>
              <a:t>않다</a:t>
            </a:r>
            <a:r>
              <a:rPr lang="en-US" altLang="ko-KR" sz="1600" dirty="0" smtClean="0"/>
              <a:t> </a:t>
            </a:r>
            <a:endParaRPr lang="ko-KR" altLang="en-US" sz="1600" dirty="0"/>
          </a:p>
          <a:p>
            <a:pPr fontAlgn="base"/>
            <a:endParaRPr lang="ko-KR" altLang="en-US" dirty="0"/>
          </a:p>
        </p:txBody>
      </p:sp>
      <p:pic>
        <p:nvPicPr>
          <p:cNvPr id="1026" name="Picture 2" descr="https://postfiles.pstatic.net/MjAyMDA5MjFfMTM2/MDAxNjAwNjU3NjY1NjYx.Y79RfYQXzrY7IfmTXd6wir5vONYlyXlf7boqXSaR6AYg.8AQrHqhgpvkrlX5XUrwRF7vEwH_zroZp5MBJWzgwM8gg.PNG.sikwon1/image.png?type=w77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811" y="3124612"/>
            <a:ext cx="7362825" cy="3733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1806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379379" y="750076"/>
            <a:ext cx="11252844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" name="직각 삼각형 4"/>
          <p:cNvSpPr/>
          <p:nvPr/>
        </p:nvSpPr>
        <p:spPr>
          <a:xfrm>
            <a:off x="11445880" y="-2"/>
            <a:ext cx="753207" cy="753207"/>
          </a:xfrm>
          <a:prstGeom prst="rtTriangle">
            <a:avLst/>
          </a:prstGeom>
          <a:effectLst>
            <a:outerShdw blurRad="50800" dist="38100" algn="l" rotWithShape="0">
              <a:prstClr val="black">
                <a:alpha val="5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79379" y="222713"/>
            <a:ext cx="17043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 smtClean="0"/>
              <a:t> I2C </a:t>
            </a:r>
            <a:r>
              <a:rPr lang="ko-KR" altLang="en-US" sz="2800" b="1" dirty="0" smtClean="0"/>
              <a:t>통신</a:t>
            </a:r>
            <a:endParaRPr lang="en-US" altLang="ko-KR" sz="28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704694" y="2343402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b="1" dirty="0"/>
          </a:p>
          <a:p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38274" y="858713"/>
            <a:ext cx="26642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 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 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0" y="1057742"/>
            <a:ext cx="1574470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1"/>
            <a:r>
              <a:rPr lang="en-US" altLang="ko-KR" sz="1400" dirty="0" smtClean="0"/>
              <a:t>.</a:t>
            </a:r>
            <a:endParaRPr lang="ko-KR" altLang="en-US" dirty="0"/>
          </a:p>
          <a:p>
            <a:r>
              <a:rPr lang="en-US" altLang="ko-KR" dirty="0" smtClean="0"/>
              <a:t>                 </a:t>
            </a:r>
          </a:p>
          <a:p>
            <a:endParaRPr lang="en-US" altLang="ko-KR" dirty="0" smtClean="0"/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128572"/>
            <a:ext cx="92974" cy="2000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3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ea typeface="Pretendard Variable"/>
              </a:rPr>
              <a:t>.</a:t>
            </a:r>
            <a:r>
              <a:rPr kumimoji="0" lang="ko-KR" altLang="ko-KR" sz="13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Pretendard Variable"/>
              </a:rPr>
              <a:t> </a:t>
            </a:r>
            <a:endParaRPr kumimoji="0" lang="ko-KR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383239" y="759971"/>
            <a:ext cx="11305487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altLang="ko-KR" sz="2000" b="1" dirty="0">
                <a:solidFill>
                  <a:srgbClr val="000000"/>
                </a:solidFill>
                <a:latin typeface="inherit"/>
              </a:rPr>
              <a:t>2</a:t>
            </a:r>
            <a:r>
              <a:rPr lang="en-US" altLang="ko-KR" sz="2000" b="1" dirty="0" smtClean="0">
                <a:solidFill>
                  <a:srgbClr val="000000"/>
                </a:solidFill>
                <a:latin typeface="inherit"/>
              </a:rPr>
              <a:t>. </a:t>
            </a:r>
            <a:r>
              <a:rPr lang="en-US" altLang="ko-KR" b="1" dirty="0"/>
              <a:t>I2C </a:t>
            </a:r>
            <a:r>
              <a:rPr lang="ko-KR" altLang="en-US" b="1" dirty="0"/>
              <a:t>통신 타이밍 </a:t>
            </a:r>
            <a:r>
              <a:rPr lang="en-US" altLang="ko-KR" b="1" dirty="0" smtClean="0"/>
              <a:t>Sequence </a:t>
            </a:r>
            <a:endParaRPr lang="ko-KR" altLang="en-US" sz="2000" dirty="0">
              <a:solidFill>
                <a:srgbClr val="557A74"/>
              </a:solidFill>
              <a:latin typeface="se-nanumgothic"/>
            </a:endParaRPr>
          </a:p>
          <a:p>
            <a:pPr fontAlgn="base"/>
            <a:endParaRPr lang="ko-KR" altLang="en-US" dirty="0"/>
          </a:p>
        </p:txBody>
      </p:sp>
      <p:pic>
        <p:nvPicPr>
          <p:cNvPr id="2050" name="Picture 2" descr="https://upload.wikimedia.org/wikipedia/commons/thumb/6/64/I2C_data_transfer.svg/600px-I2C_data_transfer.sv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658" y="1437078"/>
            <a:ext cx="6880611" cy="1146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571484" y="2666567"/>
            <a:ext cx="11158889" cy="20928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 fontAlgn="base">
              <a:buAutoNum type="arabicParenR"/>
            </a:pPr>
            <a:r>
              <a:rPr lang="en-US" altLang="ko-KR" sz="1400" smtClean="0"/>
              <a:t>SDA</a:t>
            </a:r>
            <a:r>
              <a:rPr lang="ko-KR" altLang="en-US" sz="1400" dirty="0"/>
              <a:t>와 </a:t>
            </a:r>
            <a:r>
              <a:rPr lang="en-US" altLang="ko-KR" sz="1400" dirty="0"/>
              <a:t>SCL </a:t>
            </a:r>
            <a:r>
              <a:rPr lang="ko-KR" altLang="en-US" sz="1400" dirty="0"/>
              <a:t>라인의 신호는 </a:t>
            </a:r>
            <a:r>
              <a:rPr lang="ko-KR" altLang="en-US" sz="1400" dirty="0" err="1"/>
              <a:t>풀업</a:t>
            </a:r>
            <a:r>
              <a:rPr lang="ko-KR" altLang="en-US" sz="1400" dirty="0"/>
              <a:t> 저항에 의해 </a:t>
            </a:r>
            <a:r>
              <a:rPr lang="en-US" altLang="ko-KR" sz="1400" dirty="0"/>
              <a:t>Idle(</a:t>
            </a:r>
            <a:r>
              <a:rPr lang="ko-KR" altLang="en-US" sz="1400" dirty="0"/>
              <a:t>평소</a:t>
            </a:r>
            <a:r>
              <a:rPr lang="en-US" altLang="ko-KR" sz="1400" dirty="0"/>
              <a:t>)</a:t>
            </a:r>
            <a:r>
              <a:rPr lang="ko-KR" altLang="en-US" sz="1400" dirty="0"/>
              <a:t>에는 </a:t>
            </a:r>
            <a:r>
              <a:rPr lang="en-US" altLang="ko-KR" sz="1400" dirty="0"/>
              <a:t>High</a:t>
            </a:r>
            <a:r>
              <a:rPr lang="ko-KR" altLang="en-US" sz="1400" dirty="0"/>
              <a:t>신호를 유지 하다가 마스터가 </a:t>
            </a:r>
            <a:r>
              <a:rPr lang="ko-KR" altLang="en-US" sz="1400" dirty="0" err="1"/>
              <a:t>슬레이브와</a:t>
            </a:r>
            <a:r>
              <a:rPr lang="ko-KR" altLang="en-US" sz="1400" dirty="0"/>
              <a:t> 통신을 </a:t>
            </a:r>
            <a:r>
              <a:rPr lang="ko-KR" altLang="en-US" sz="1400"/>
              <a:t>시도하기 </a:t>
            </a:r>
            <a:r>
              <a:rPr lang="ko-KR" altLang="en-US" sz="1400" smtClean="0"/>
              <a:t>위해서는</a:t>
            </a:r>
            <a:endParaRPr lang="en-US" altLang="ko-KR" sz="1400" smtClean="0"/>
          </a:p>
          <a:p>
            <a:pPr fontAlgn="base"/>
            <a:r>
              <a:rPr lang="en-US" altLang="ko-KR" sz="1400"/>
              <a:t> </a:t>
            </a:r>
            <a:r>
              <a:rPr lang="en-US" altLang="ko-KR" sz="1400" smtClean="0"/>
              <a:t>   </a:t>
            </a:r>
            <a:r>
              <a:rPr lang="ko-KR" altLang="en-US" sz="1400" smtClean="0"/>
              <a:t> </a:t>
            </a:r>
            <a:r>
              <a:rPr lang="en-US" altLang="ko-KR" sz="1400" dirty="0"/>
              <a:t>SDA</a:t>
            </a:r>
            <a:r>
              <a:rPr lang="ko-KR" altLang="en-US" sz="1400" dirty="0"/>
              <a:t>신호를 </a:t>
            </a:r>
            <a:r>
              <a:rPr lang="en-US" altLang="ko-KR" sz="1400" dirty="0"/>
              <a:t>Low</a:t>
            </a:r>
            <a:r>
              <a:rPr lang="ko-KR" altLang="en-US" sz="1400" dirty="0"/>
              <a:t>로 떨어 </a:t>
            </a:r>
            <a:r>
              <a:rPr lang="ko-KR" altLang="en-US" sz="1400" dirty="0" err="1"/>
              <a:t>트린다</a:t>
            </a:r>
            <a:r>
              <a:rPr lang="en-US" altLang="ko-KR" sz="1400" dirty="0"/>
              <a:t>.</a:t>
            </a:r>
            <a:endParaRPr lang="ko-KR" altLang="en-US" sz="1400" dirty="0"/>
          </a:p>
          <a:p>
            <a:pPr fontAlgn="base"/>
            <a:r>
              <a:rPr lang="en-US" altLang="ko-KR" sz="1400" dirty="0" smtClean="0"/>
              <a:t>2) </a:t>
            </a:r>
            <a:r>
              <a:rPr lang="ko-KR" altLang="en-US" sz="1400" dirty="0"/>
              <a:t>그러면 </a:t>
            </a:r>
            <a:r>
              <a:rPr lang="en-US" altLang="ko-KR" sz="1400" dirty="0"/>
              <a:t>Slave</a:t>
            </a:r>
            <a:r>
              <a:rPr lang="ko-KR" altLang="en-US" sz="1400" dirty="0"/>
              <a:t>는 통신 시작 신호로 받아 들이고 </a:t>
            </a:r>
            <a:r>
              <a:rPr lang="en-US" altLang="ko-KR" sz="1400" dirty="0"/>
              <a:t>Master</a:t>
            </a:r>
            <a:r>
              <a:rPr lang="ko-KR" altLang="en-US" sz="1400" dirty="0"/>
              <a:t>는 </a:t>
            </a:r>
            <a:r>
              <a:rPr lang="en-US" altLang="ko-KR" sz="1400" dirty="0"/>
              <a:t>SCL </a:t>
            </a:r>
            <a:r>
              <a:rPr lang="ko-KR" altLang="en-US" sz="1400" dirty="0"/>
              <a:t>라인으로 </a:t>
            </a:r>
            <a:r>
              <a:rPr lang="en-US" altLang="ko-KR" sz="1400" dirty="0"/>
              <a:t>Clock</a:t>
            </a:r>
            <a:r>
              <a:rPr lang="ko-KR" altLang="en-US" sz="1400" dirty="0"/>
              <a:t>신호를 만들어 낸다</a:t>
            </a:r>
            <a:r>
              <a:rPr lang="en-US" altLang="ko-KR" sz="1400" dirty="0"/>
              <a:t>. </a:t>
            </a:r>
            <a:endParaRPr lang="ko-KR" altLang="en-US" sz="1400" dirty="0"/>
          </a:p>
          <a:p>
            <a:pPr fontAlgn="base"/>
            <a:r>
              <a:rPr lang="en-US" altLang="ko-KR" sz="1400" dirty="0" smtClean="0"/>
              <a:t>3) </a:t>
            </a:r>
            <a:r>
              <a:rPr lang="ko-KR" altLang="en-US" sz="1400" dirty="0" err="1"/>
              <a:t>클럭신호가</a:t>
            </a:r>
            <a:r>
              <a:rPr lang="ko-KR" altLang="en-US" sz="1400" dirty="0"/>
              <a:t> </a:t>
            </a:r>
            <a:r>
              <a:rPr lang="en-US" altLang="ko-KR" sz="1400" dirty="0"/>
              <a:t>Low</a:t>
            </a:r>
            <a:r>
              <a:rPr lang="ko-KR" altLang="en-US" sz="1400" dirty="0" err="1"/>
              <a:t>일때</a:t>
            </a:r>
            <a:r>
              <a:rPr lang="ko-KR" altLang="en-US" sz="1400" dirty="0"/>
              <a:t> </a:t>
            </a:r>
            <a:r>
              <a:rPr lang="en-US" altLang="ko-KR" sz="1400" dirty="0"/>
              <a:t>SDA </a:t>
            </a:r>
            <a:r>
              <a:rPr lang="ko-KR" altLang="en-US" sz="1400" dirty="0"/>
              <a:t>신호를 비트 신호로 바꾸는 시간 </a:t>
            </a:r>
            <a:r>
              <a:rPr lang="en-US" altLang="ko-KR" sz="1400" dirty="0"/>
              <a:t>(</a:t>
            </a:r>
            <a:r>
              <a:rPr lang="ko-KR" altLang="en-US" sz="1400" dirty="0"/>
              <a:t>파란색</a:t>
            </a:r>
            <a:r>
              <a:rPr lang="en-US" altLang="ko-KR" sz="1400" dirty="0"/>
              <a:t>) </a:t>
            </a:r>
            <a:r>
              <a:rPr lang="ko-KR" altLang="en-US" sz="1400" dirty="0"/>
              <a:t>이다</a:t>
            </a:r>
            <a:r>
              <a:rPr lang="en-US" altLang="ko-KR" sz="1400" dirty="0"/>
              <a:t>.</a:t>
            </a:r>
            <a:endParaRPr lang="ko-KR" altLang="en-US" sz="1400" dirty="0"/>
          </a:p>
          <a:p>
            <a:pPr fontAlgn="base"/>
            <a:r>
              <a:rPr lang="en-US" altLang="ko-KR" sz="1400" dirty="0" smtClean="0"/>
              <a:t>4) </a:t>
            </a:r>
            <a:r>
              <a:rPr lang="ko-KR" altLang="en-US" sz="1400" dirty="0" err="1"/>
              <a:t>클럭신호가</a:t>
            </a:r>
            <a:r>
              <a:rPr lang="ko-KR" altLang="en-US" sz="1400" dirty="0"/>
              <a:t> </a:t>
            </a:r>
            <a:r>
              <a:rPr lang="en-US" altLang="ko-KR" sz="1400" dirty="0"/>
              <a:t>High</a:t>
            </a:r>
            <a:r>
              <a:rPr lang="ko-KR" altLang="en-US" sz="1400" dirty="0" err="1"/>
              <a:t>일때</a:t>
            </a:r>
            <a:r>
              <a:rPr lang="ko-KR" altLang="en-US" sz="1400" dirty="0"/>
              <a:t> </a:t>
            </a:r>
            <a:r>
              <a:rPr lang="en-US" altLang="ko-KR" sz="1400" dirty="0"/>
              <a:t>SDA</a:t>
            </a:r>
            <a:r>
              <a:rPr lang="ko-KR" altLang="en-US" sz="1400" dirty="0"/>
              <a:t>신호를 읽는 시간</a:t>
            </a:r>
            <a:r>
              <a:rPr lang="en-US" altLang="ko-KR" sz="1400" dirty="0"/>
              <a:t>(</a:t>
            </a:r>
            <a:r>
              <a:rPr lang="ko-KR" altLang="en-US" sz="1400" dirty="0"/>
              <a:t>녹색</a:t>
            </a:r>
            <a:r>
              <a:rPr lang="en-US" altLang="ko-KR" sz="1400" dirty="0"/>
              <a:t>)</a:t>
            </a:r>
            <a:r>
              <a:rPr lang="ko-KR" altLang="en-US" sz="1400" dirty="0"/>
              <a:t>이다</a:t>
            </a:r>
            <a:r>
              <a:rPr lang="en-US" altLang="ko-KR" sz="1400" dirty="0"/>
              <a:t>. </a:t>
            </a:r>
            <a:endParaRPr lang="ko-KR" altLang="en-US" sz="1400" dirty="0"/>
          </a:p>
          <a:p>
            <a:pPr fontAlgn="base"/>
            <a:r>
              <a:rPr lang="en-US" altLang="ko-KR" sz="1400" dirty="0" smtClean="0"/>
              <a:t>   3)</a:t>
            </a:r>
            <a:r>
              <a:rPr lang="ko-KR" altLang="en-US" sz="1400" dirty="0" smtClean="0"/>
              <a:t>와 </a:t>
            </a:r>
            <a:r>
              <a:rPr lang="en-US" altLang="ko-KR" sz="1400" dirty="0" smtClean="0"/>
              <a:t>4)</a:t>
            </a:r>
            <a:r>
              <a:rPr lang="ko-KR" altLang="en-US" sz="1400" dirty="0" smtClean="0"/>
              <a:t>를 </a:t>
            </a:r>
            <a:r>
              <a:rPr lang="ko-KR" altLang="en-US" sz="1400" dirty="0"/>
              <a:t>반복하면서 </a:t>
            </a:r>
            <a:r>
              <a:rPr lang="en-US" altLang="ko-KR" sz="1400" dirty="0"/>
              <a:t>1 </a:t>
            </a:r>
            <a:r>
              <a:rPr lang="ko-KR" altLang="en-US" sz="1400" dirty="0"/>
              <a:t>클럭에 </a:t>
            </a:r>
            <a:r>
              <a:rPr lang="en-US" altLang="ko-KR" sz="1400" dirty="0"/>
              <a:t>1byte</a:t>
            </a:r>
            <a:r>
              <a:rPr lang="ko-KR" altLang="en-US" sz="1400" dirty="0"/>
              <a:t>씩 데이터 전송 한다</a:t>
            </a:r>
            <a:r>
              <a:rPr lang="en-US" altLang="ko-KR" sz="1400" dirty="0"/>
              <a:t>. </a:t>
            </a:r>
            <a:endParaRPr lang="ko-KR" altLang="en-US" sz="1400" dirty="0"/>
          </a:p>
          <a:p>
            <a:pPr fontAlgn="base"/>
            <a:r>
              <a:rPr lang="en-US" altLang="ko-KR" sz="1400" dirty="0" smtClean="0"/>
              <a:t>5) </a:t>
            </a:r>
            <a:r>
              <a:rPr lang="ko-KR" altLang="en-US" sz="1400" dirty="0" smtClean="0"/>
              <a:t>모든 </a:t>
            </a:r>
            <a:r>
              <a:rPr lang="ko-KR" altLang="en-US" sz="1400" dirty="0"/>
              <a:t>비트의 전송이 끝난 후 </a:t>
            </a:r>
            <a:r>
              <a:rPr lang="en-US" altLang="ko-KR" sz="1400" dirty="0"/>
              <a:t>SCL </a:t>
            </a:r>
            <a:r>
              <a:rPr lang="ko-KR" altLang="en-US" sz="1400" dirty="0"/>
              <a:t>신호가 </a:t>
            </a:r>
            <a:r>
              <a:rPr lang="en-US" altLang="ko-KR" sz="1400" dirty="0"/>
              <a:t>High</a:t>
            </a:r>
            <a:r>
              <a:rPr lang="ko-KR" altLang="en-US" sz="1400" dirty="0"/>
              <a:t>가 되면 </a:t>
            </a:r>
            <a:r>
              <a:rPr lang="en-US" altLang="ko-KR" sz="1400" dirty="0"/>
              <a:t>SDA </a:t>
            </a:r>
            <a:r>
              <a:rPr lang="ko-KR" altLang="en-US" sz="1400" dirty="0"/>
              <a:t>신호도 </a:t>
            </a:r>
            <a:r>
              <a:rPr lang="en-US" altLang="ko-KR" sz="1400" dirty="0"/>
              <a:t>High</a:t>
            </a:r>
            <a:r>
              <a:rPr lang="ko-KR" altLang="en-US" sz="1400" dirty="0"/>
              <a:t>로 만들어 정지</a:t>
            </a:r>
          </a:p>
          <a:p>
            <a:pPr fontAlgn="base"/>
            <a:r>
              <a:rPr lang="ko-KR" altLang="en-US" sz="1400" dirty="0" smtClean="0"/>
              <a:t>   신호 </a:t>
            </a:r>
            <a:r>
              <a:rPr lang="en-US" altLang="ko-KR" sz="1400" dirty="0"/>
              <a:t>P(</a:t>
            </a:r>
            <a:r>
              <a:rPr lang="ko-KR" altLang="en-US" sz="1400" dirty="0"/>
              <a:t>주황색</a:t>
            </a:r>
            <a:r>
              <a:rPr lang="en-US" altLang="ko-KR" sz="1400" dirty="0"/>
              <a:t>)</a:t>
            </a:r>
            <a:r>
              <a:rPr lang="ko-KR" altLang="en-US" sz="1400" dirty="0"/>
              <a:t>을 </a:t>
            </a:r>
            <a:r>
              <a:rPr lang="ko-KR" altLang="en-US" sz="1400" dirty="0" smtClean="0"/>
              <a:t>만든다</a:t>
            </a:r>
            <a:r>
              <a:rPr lang="ko-KR" altLang="en-US" dirty="0"/>
              <a:t/>
            </a:r>
            <a:br>
              <a:rPr lang="ko-KR" altLang="en-US" dirty="0"/>
            </a:b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8330" y="1057742"/>
            <a:ext cx="3415431" cy="1490570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868" y="4544003"/>
            <a:ext cx="6748401" cy="1951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982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379379" y="750076"/>
            <a:ext cx="11252844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" name="직각 삼각형 4"/>
          <p:cNvSpPr/>
          <p:nvPr/>
        </p:nvSpPr>
        <p:spPr>
          <a:xfrm>
            <a:off x="11445880" y="-2"/>
            <a:ext cx="753207" cy="753207"/>
          </a:xfrm>
          <a:prstGeom prst="rtTriangle">
            <a:avLst/>
          </a:prstGeom>
          <a:effectLst>
            <a:outerShdw blurRad="50800" dist="38100" algn="l" rotWithShape="0">
              <a:prstClr val="black">
                <a:alpha val="5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4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79379" y="222713"/>
            <a:ext cx="17043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 smtClean="0"/>
              <a:t> I2C </a:t>
            </a:r>
            <a:r>
              <a:rPr lang="ko-KR" altLang="en-US" sz="2800" b="1" dirty="0" smtClean="0"/>
              <a:t>통신</a:t>
            </a:r>
            <a:endParaRPr lang="en-US" altLang="ko-KR" sz="28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704694" y="2343402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b="1" dirty="0"/>
          </a:p>
          <a:p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38274" y="858713"/>
            <a:ext cx="26642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 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 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0" y="1057742"/>
            <a:ext cx="1574470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1"/>
            <a:r>
              <a:rPr lang="en-US" altLang="ko-KR" sz="1400" dirty="0" smtClean="0"/>
              <a:t>.</a:t>
            </a:r>
            <a:endParaRPr lang="ko-KR" altLang="en-US" dirty="0"/>
          </a:p>
          <a:p>
            <a:r>
              <a:rPr lang="en-US" altLang="ko-KR" dirty="0" smtClean="0"/>
              <a:t>                 </a:t>
            </a:r>
          </a:p>
          <a:p>
            <a:endParaRPr lang="en-US" altLang="ko-KR" dirty="0" smtClean="0"/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128572"/>
            <a:ext cx="92974" cy="2000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3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ea typeface="Pretendard Variable"/>
              </a:rPr>
              <a:t>.</a:t>
            </a:r>
            <a:r>
              <a:rPr kumimoji="0" lang="ko-KR" altLang="ko-KR" sz="13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Pretendard Variable"/>
              </a:rPr>
              <a:t> </a:t>
            </a:r>
            <a:endParaRPr kumimoji="0" lang="ko-KR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383239" y="759971"/>
            <a:ext cx="11305487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altLang="ko-KR" sz="2000" b="1" dirty="0">
                <a:solidFill>
                  <a:srgbClr val="000000"/>
                </a:solidFill>
                <a:latin typeface="inherit"/>
              </a:rPr>
              <a:t>2</a:t>
            </a:r>
            <a:r>
              <a:rPr lang="en-US" altLang="ko-KR" sz="2000" b="1" dirty="0" smtClean="0">
                <a:solidFill>
                  <a:srgbClr val="000000"/>
                </a:solidFill>
                <a:latin typeface="inherit"/>
              </a:rPr>
              <a:t>. </a:t>
            </a:r>
            <a:r>
              <a:rPr lang="en-US" altLang="ko-KR" b="1" dirty="0"/>
              <a:t>I2C </a:t>
            </a:r>
            <a:r>
              <a:rPr lang="ko-KR" altLang="en-US" b="1" dirty="0"/>
              <a:t>통신 타이밍 </a:t>
            </a:r>
            <a:r>
              <a:rPr lang="en-US" altLang="ko-KR" b="1" dirty="0" smtClean="0"/>
              <a:t>Sequence </a:t>
            </a:r>
            <a:endParaRPr lang="ko-KR" altLang="en-US" sz="2000" dirty="0">
              <a:solidFill>
                <a:srgbClr val="557A74"/>
              </a:solidFill>
              <a:latin typeface="se-nanumgothic"/>
            </a:endParaRPr>
          </a:p>
          <a:p>
            <a:pPr fontAlgn="base"/>
            <a:endParaRPr lang="ko-KR" altLang="en-US" dirty="0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135" y="1057742"/>
            <a:ext cx="7620392" cy="2717940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890" y="3525876"/>
            <a:ext cx="7728347" cy="2463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952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379379" y="750076"/>
            <a:ext cx="11252844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" name="직각 삼각형 4"/>
          <p:cNvSpPr/>
          <p:nvPr/>
        </p:nvSpPr>
        <p:spPr>
          <a:xfrm>
            <a:off x="11445880" y="-2"/>
            <a:ext cx="753207" cy="753207"/>
          </a:xfrm>
          <a:prstGeom prst="rtTriangle">
            <a:avLst/>
          </a:prstGeom>
          <a:effectLst>
            <a:outerShdw blurRad="50800" dist="38100" algn="l" rotWithShape="0">
              <a:prstClr val="black">
                <a:alpha val="5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5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79379" y="222713"/>
            <a:ext cx="17043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 smtClean="0"/>
              <a:t> I2C </a:t>
            </a:r>
            <a:r>
              <a:rPr lang="ko-KR" altLang="en-US" sz="2800" b="1" dirty="0" smtClean="0"/>
              <a:t>통신</a:t>
            </a:r>
            <a:endParaRPr lang="en-US" altLang="ko-KR" sz="28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704694" y="2343402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b="1" dirty="0"/>
          </a:p>
          <a:p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38274" y="858713"/>
            <a:ext cx="26642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 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 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0" y="1057742"/>
            <a:ext cx="1574470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1"/>
            <a:r>
              <a:rPr lang="en-US" altLang="ko-KR" sz="1400" dirty="0" smtClean="0"/>
              <a:t>.</a:t>
            </a:r>
            <a:endParaRPr lang="ko-KR" altLang="en-US" dirty="0"/>
          </a:p>
          <a:p>
            <a:r>
              <a:rPr lang="en-US" altLang="ko-KR" dirty="0" smtClean="0"/>
              <a:t>                 </a:t>
            </a:r>
          </a:p>
          <a:p>
            <a:endParaRPr lang="en-US" altLang="ko-KR" dirty="0" smtClean="0"/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128572"/>
            <a:ext cx="92974" cy="2000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3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ea typeface="Pretendard Variable"/>
              </a:rPr>
              <a:t>.</a:t>
            </a:r>
            <a:r>
              <a:rPr kumimoji="0" lang="ko-KR" altLang="ko-KR" sz="13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Pretendard Variable"/>
              </a:rPr>
              <a:t> </a:t>
            </a:r>
            <a:endParaRPr kumimoji="0" lang="ko-KR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383239" y="759971"/>
            <a:ext cx="11305487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altLang="ko-KR" sz="2000" b="1" dirty="0">
                <a:solidFill>
                  <a:srgbClr val="000000"/>
                </a:solidFill>
                <a:latin typeface="inherit"/>
              </a:rPr>
              <a:t>2</a:t>
            </a:r>
            <a:r>
              <a:rPr lang="en-US" altLang="ko-KR" sz="2000" b="1" dirty="0" smtClean="0">
                <a:solidFill>
                  <a:srgbClr val="000000"/>
                </a:solidFill>
                <a:latin typeface="inherit"/>
              </a:rPr>
              <a:t>. </a:t>
            </a:r>
            <a:r>
              <a:rPr lang="en-US" altLang="ko-KR" b="1" dirty="0"/>
              <a:t>I2C </a:t>
            </a:r>
            <a:r>
              <a:rPr lang="ko-KR" altLang="en-US" b="1" dirty="0"/>
              <a:t>통신 타이밍 </a:t>
            </a:r>
            <a:r>
              <a:rPr lang="en-US" altLang="ko-KR" b="1" dirty="0" smtClean="0"/>
              <a:t>Sequence </a:t>
            </a:r>
            <a:endParaRPr lang="ko-KR" altLang="en-US" sz="2000" dirty="0">
              <a:solidFill>
                <a:srgbClr val="557A74"/>
              </a:solidFill>
              <a:latin typeface="se-nanumgothic"/>
            </a:endParaRPr>
          </a:p>
          <a:p>
            <a:pPr fontAlgn="base"/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1522837" y="5342497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fontAlgn="base"/>
            <a:r>
              <a:rPr lang="en-US" altLang="ko-KR" dirty="0">
                <a:solidFill>
                  <a:srgbClr val="555555"/>
                </a:solidFill>
                <a:latin typeface="se-nanumgothic"/>
              </a:rPr>
              <a:t>&lt; I2C Write/Read </a:t>
            </a:r>
            <a:r>
              <a:rPr lang="ko-KR" altLang="en-US" dirty="0">
                <a:solidFill>
                  <a:srgbClr val="555555"/>
                </a:solidFill>
                <a:latin typeface="se-nanumgothic"/>
              </a:rPr>
              <a:t>데이터 </a:t>
            </a:r>
            <a:r>
              <a:rPr lang="ko-KR" altLang="en-US" dirty="0" err="1">
                <a:solidFill>
                  <a:srgbClr val="555555"/>
                </a:solidFill>
                <a:latin typeface="se-nanumgothic"/>
              </a:rPr>
              <a:t>포멧</a:t>
            </a:r>
            <a:r>
              <a:rPr lang="ko-KR" altLang="en-US" dirty="0">
                <a:solidFill>
                  <a:srgbClr val="555555"/>
                </a:solidFill>
                <a:latin typeface="se-nanumgothic"/>
              </a:rPr>
              <a:t> </a:t>
            </a:r>
            <a:r>
              <a:rPr lang="en-US" altLang="ko-KR" dirty="0">
                <a:solidFill>
                  <a:srgbClr val="555555"/>
                </a:solidFill>
                <a:latin typeface="se-nanumgothic"/>
              </a:rPr>
              <a:t>&gt;</a:t>
            </a:r>
            <a:endParaRPr lang="ko-KR" altLang="en-US" dirty="0">
              <a:solidFill>
                <a:srgbClr val="557A74"/>
              </a:solidFill>
              <a:latin typeface="inherit"/>
            </a:endParaRPr>
          </a:p>
          <a:p>
            <a:pPr fontAlgn="base"/>
            <a:endParaRPr lang="en-US" altLang="ko-KR" b="0" i="0" dirty="0">
              <a:solidFill>
                <a:srgbClr val="000000"/>
              </a:solidFill>
              <a:effectLst/>
              <a:latin typeface="Dotum" panose="020B0600000101010101" pitchFamily="50" charset="-127"/>
              <a:ea typeface="Dotum" panose="020B0600000101010101" pitchFamily="50" charset="-127"/>
            </a:endParaRPr>
          </a:p>
        </p:txBody>
      </p:sp>
      <p:pic>
        <p:nvPicPr>
          <p:cNvPr id="14" name="Picture 4" descr="https://postfiles.pstatic.net/MjAyMDA5MjFfNTkg/MDAxNjAwNjc0MjczNjUx.elgBjpQiWjAB8xPNaXFM1K2QBYx8prJUQHZnXjs6m1Mg.sxiJAt2qHdEwPyAHyYZRhv1PuC0WlFtujLZJIbY50wEg.PNG.sikwon1/image.png?type=w77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425" y="1734850"/>
            <a:ext cx="7362825" cy="3152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0399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379379" y="750076"/>
            <a:ext cx="11252844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" name="직각 삼각형 4"/>
          <p:cNvSpPr/>
          <p:nvPr/>
        </p:nvSpPr>
        <p:spPr>
          <a:xfrm>
            <a:off x="11445880" y="-2"/>
            <a:ext cx="753207" cy="753207"/>
          </a:xfrm>
          <a:prstGeom prst="rtTriangle">
            <a:avLst/>
          </a:prstGeom>
          <a:effectLst>
            <a:outerShdw blurRad="50800" dist="38100" algn="l" rotWithShape="0">
              <a:prstClr val="black">
                <a:alpha val="5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6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79379" y="222713"/>
            <a:ext cx="17043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 smtClean="0"/>
              <a:t> I2C </a:t>
            </a:r>
            <a:r>
              <a:rPr lang="ko-KR" altLang="en-US" sz="2800" b="1" dirty="0" smtClean="0"/>
              <a:t>통신</a:t>
            </a:r>
            <a:endParaRPr lang="en-US" altLang="ko-KR" sz="28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704694" y="2343402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b="1" dirty="0"/>
          </a:p>
          <a:p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38274" y="858713"/>
            <a:ext cx="26642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 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 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0" y="1057742"/>
            <a:ext cx="1574470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1"/>
            <a:r>
              <a:rPr lang="en-US" altLang="ko-KR" sz="1400" dirty="0" smtClean="0"/>
              <a:t>.</a:t>
            </a:r>
            <a:endParaRPr lang="ko-KR" altLang="en-US" dirty="0"/>
          </a:p>
          <a:p>
            <a:r>
              <a:rPr lang="en-US" altLang="ko-KR" dirty="0" smtClean="0"/>
              <a:t>                 </a:t>
            </a:r>
          </a:p>
          <a:p>
            <a:endParaRPr lang="en-US" altLang="ko-KR" dirty="0" smtClean="0"/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128572"/>
            <a:ext cx="92974" cy="2000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3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ea typeface="Pretendard Variable"/>
              </a:rPr>
              <a:t>.</a:t>
            </a:r>
            <a:r>
              <a:rPr kumimoji="0" lang="ko-KR" altLang="ko-KR" sz="13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Pretendard Variable"/>
              </a:rPr>
              <a:t> </a:t>
            </a:r>
            <a:endParaRPr kumimoji="0" lang="ko-KR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383239" y="759971"/>
            <a:ext cx="1130548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altLang="ko-KR" sz="2000" b="1" dirty="0">
                <a:solidFill>
                  <a:srgbClr val="000000"/>
                </a:solidFill>
                <a:latin typeface="inherit"/>
              </a:rPr>
              <a:t>3</a:t>
            </a:r>
            <a:r>
              <a:rPr lang="en-US" altLang="ko-KR" sz="2000" b="1" dirty="0" smtClean="0">
                <a:solidFill>
                  <a:srgbClr val="000000"/>
                </a:solidFill>
                <a:latin typeface="inherit"/>
              </a:rPr>
              <a:t>. </a:t>
            </a:r>
            <a:r>
              <a:rPr lang="en-US" altLang="ko-KR" dirty="0"/>
              <a:t>I2C protocol </a:t>
            </a:r>
            <a:r>
              <a:rPr lang="ko-KR" altLang="en-US" dirty="0" err="1"/>
              <a:t>오실로스코프로</a:t>
            </a:r>
            <a:r>
              <a:rPr lang="ko-KR" altLang="en-US" dirty="0"/>
              <a:t> 분석 </a:t>
            </a:r>
            <a:r>
              <a:rPr lang="ko-KR" altLang="en-US" dirty="0" smtClean="0"/>
              <a:t>하기</a:t>
            </a:r>
            <a:endParaRPr lang="ko-KR" alt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019655" y="183537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4386" y="1605523"/>
            <a:ext cx="6570954" cy="4966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999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379379" y="750076"/>
            <a:ext cx="11252844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" name="직각 삼각형 4"/>
          <p:cNvSpPr/>
          <p:nvPr/>
        </p:nvSpPr>
        <p:spPr>
          <a:xfrm>
            <a:off x="11445880" y="-2"/>
            <a:ext cx="753207" cy="753207"/>
          </a:xfrm>
          <a:prstGeom prst="rtTriangle">
            <a:avLst/>
          </a:prstGeom>
          <a:effectLst>
            <a:outerShdw blurRad="50800" dist="38100" algn="l" rotWithShape="0">
              <a:prstClr val="black">
                <a:alpha val="5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79379" y="222713"/>
            <a:ext cx="17043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 smtClean="0"/>
              <a:t> I2C </a:t>
            </a:r>
            <a:r>
              <a:rPr lang="ko-KR" altLang="en-US" sz="2800" b="1" dirty="0" smtClean="0"/>
              <a:t>통신</a:t>
            </a:r>
            <a:endParaRPr lang="en-US" altLang="ko-KR" sz="28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704694" y="2343402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b="1" dirty="0"/>
          </a:p>
          <a:p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38274" y="858713"/>
            <a:ext cx="26642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 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 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0" y="1057742"/>
            <a:ext cx="1574470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1"/>
            <a:r>
              <a:rPr lang="en-US" altLang="ko-KR" sz="1400" dirty="0" smtClean="0"/>
              <a:t>.</a:t>
            </a:r>
            <a:endParaRPr lang="ko-KR" altLang="en-US" dirty="0"/>
          </a:p>
          <a:p>
            <a:r>
              <a:rPr lang="en-US" altLang="ko-KR" dirty="0" smtClean="0"/>
              <a:t>                 </a:t>
            </a:r>
          </a:p>
          <a:p>
            <a:endParaRPr lang="en-US" altLang="ko-KR" dirty="0" smtClean="0"/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128572"/>
            <a:ext cx="92974" cy="2000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3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ea typeface="Pretendard Variable"/>
              </a:rPr>
              <a:t>.</a:t>
            </a:r>
            <a:r>
              <a:rPr kumimoji="0" lang="ko-KR" altLang="ko-KR" sz="13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Pretendard Variable"/>
              </a:rPr>
              <a:t> </a:t>
            </a:r>
            <a:endParaRPr kumimoji="0" lang="ko-KR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383239" y="759971"/>
            <a:ext cx="1130548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altLang="ko-KR" sz="2000" b="1" dirty="0">
                <a:solidFill>
                  <a:srgbClr val="000000"/>
                </a:solidFill>
                <a:latin typeface="inherit"/>
              </a:rPr>
              <a:t>3</a:t>
            </a:r>
            <a:r>
              <a:rPr lang="en-US" altLang="ko-KR" sz="2000" b="1" dirty="0" smtClean="0">
                <a:solidFill>
                  <a:srgbClr val="000000"/>
                </a:solidFill>
                <a:latin typeface="inherit"/>
              </a:rPr>
              <a:t>. </a:t>
            </a:r>
            <a:r>
              <a:rPr lang="en-US" altLang="ko-KR" dirty="0"/>
              <a:t>I2C protocol </a:t>
            </a:r>
            <a:r>
              <a:rPr lang="ko-KR" altLang="en-US" dirty="0" err="1"/>
              <a:t>오실로스코프로</a:t>
            </a:r>
            <a:r>
              <a:rPr lang="ko-KR" altLang="en-US" dirty="0"/>
              <a:t> 분석 </a:t>
            </a:r>
            <a:r>
              <a:rPr lang="ko-KR" altLang="en-US" dirty="0" smtClean="0"/>
              <a:t>하기</a:t>
            </a:r>
            <a:endParaRPr lang="ko-KR" alt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019655" y="183537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/>
          </a:p>
        </p:txBody>
      </p:sp>
      <p:pic>
        <p:nvPicPr>
          <p:cNvPr id="4098" name="Picture 2" descr="https://postfiles.pstatic.net/MjAyMjA1MjNfMTM5/MDAxNjUzMjYzMTg1NTc3._HkcNZhbrC5wDBetfo9-1TtjumW7vPPXkSUistBsuagg.YB4jDz6qgZIxgCkzw3jOd7WXHenT1ErAnWn38W686bUg.PNG.sikwon1/image.png?type=w77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729" y="1496011"/>
            <a:ext cx="7362825" cy="4917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5209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379379" y="750076"/>
            <a:ext cx="11252844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" name="직각 삼각형 4"/>
          <p:cNvSpPr/>
          <p:nvPr/>
        </p:nvSpPr>
        <p:spPr>
          <a:xfrm>
            <a:off x="11445880" y="-2"/>
            <a:ext cx="753207" cy="753207"/>
          </a:xfrm>
          <a:prstGeom prst="rtTriangle">
            <a:avLst/>
          </a:prstGeom>
          <a:effectLst>
            <a:outerShdw blurRad="50800" dist="38100" algn="l" rotWithShape="0">
              <a:prstClr val="black">
                <a:alpha val="5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8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79379" y="222713"/>
            <a:ext cx="17043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 smtClean="0"/>
              <a:t> I2C </a:t>
            </a:r>
            <a:r>
              <a:rPr lang="ko-KR" altLang="en-US" sz="2800" b="1" dirty="0" smtClean="0"/>
              <a:t>통신</a:t>
            </a:r>
            <a:endParaRPr lang="en-US" altLang="ko-KR" sz="28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704694" y="2343402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b="1" dirty="0"/>
          </a:p>
          <a:p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38274" y="858713"/>
            <a:ext cx="26642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 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 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0" y="1057742"/>
            <a:ext cx="1574470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1"/>
            <a:r>
              <a:rPr lang="en-US" altLang="ko-KR" sz="1400" dirty="0" smtClean="0"/>
              <a:t>.</a:t>
            </a:r>
            <a:endParaRPr lang="ko-KR" altLang="en-US" dirty="0"/>
          </a:p>
          <a:p>
            <a:r>
              <a:rPr lang="en-US" altLang="ko-KR" dirty="0" smtClean="0"/>
              <a:t>                 </a:t>
            </a:r>
          </a:p>
          <a:p>
            <a:endParaRPr lang="en-US" altLang="ko-KR" dirty="0" smtClean="0"/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128572"/>
            <a:ext cx="92974" cy="2000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3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ea typeface="Pretendard Variable"/>
              </a:rPr>
              <a:t>.</a:t>
            </a:r>
            <a:r>
              <a:rPr kumimoji="0" lang="ko-KR" altLang="ko-KR" sz="13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Pretendard Variable"/>
              </a:rPr>
              <a:t> </a:t>
            </a:r>
            <a:endParaRPr kumimoji="0" lang="ko-KR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383239" y="759971"/>
            <a:ext cx="1130548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altLang="ko-KR" sz="2000" b="1" dirty="0" smtClean="0">
                <a:solidFill>
                  <a:srgbClr val="000000"/>
                </a:solidFill>
                <a:latin typeface="inherit"/>
              </a:rPr>
              <a:t>4. </a:t>
            </a:r>
            <a:r>
              <a:rPr lang="en-US" altLang="ko-KR" dirty="0"/>
              <a:t>I2C </a:t>
            </a:r>
            <a:r>
              <a:rPr lang="en-US" altLang="ko-KR" dirty="0" smtClean="0"/>
              <a:t>LCD</a:t>
            </a:r>
            <a:endParaRPr lang="ko-KR" alt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019655" y="183537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/>
          </a:p>
        </p:txBody>
      </p:sp>
      <p:pic>
        <p:nvPicPr>
          <p:cNvPr id="8194" name="Picture 2" descr="https://postfiles.pstatic.net/MjAyMTEwMjlfNjcg/MDAxNjM1NDk5NDQ4OTA3.H1O01D4Q7LWo4Woe5yQrGkcx_H1E8DJ-XJ4xBeCA88cg.FAj_g0ZJ4brPAnUdfI2Xe9jmvsbvuKHG2f5xfqYeDnAg.PNG.sikwon1/image.png?type=w77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484" y="1634157"/>
            <a:ext cx="5153025" cy="4781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https://mblogthumb-phinf.pstatic.net/MjAxNzEyMTJfMTkz/MDAxNTEzMDM3MzgxNDEz.eDiFrDXljy4g6tTajD8HxzyYF2blLIJme7rKDP1Jrbgg.GJqdAb_EO8HWkUU8NaQqP0TL4Erk2I3gww2a1tznfysg.PNG.specialist0/Capture_3.png?type=w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680" y="1166847"/>
            <a:ext cx="5742975" cy="5872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2702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379379" y="750076"/>
            <a:ext cx="11252844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" name="직각 삼각형 4"/>
          <p:cNvSpPr/>
          <p:nvPr/>
        </p:nvSpPr>
        <p:spPr>
          <a:xfrm>
            <a:off x="11445880" y="-2"/>
            <a:ext cx="753207" cy="753207"/>
          </a:xfrm>
          <a:prstGeom prst="rtTriangle">
            <a:avLst/>
          </a:prstGeom>
          <a:effectLst>
            <a:outerShdw blurRad="50800" dist="38100" algn="l" rotWithShape="0">
              <a:prstClr val="black">
                <a:alpha val="5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9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79379" y="222713"/>
            <a:ext cx="17043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 smtClean="0"/>
              <a:t> I2C </a:t>
            </a:r>
            <a:r>
              <a:rPr lang="ko-KR" altLang="en-US" sz="2800" b="1" dirty="0" smtClean="0"/>
              <a:t>통신</a:t>
            </a:r>
            <a:endParaRPr lang="en-US" altLang="ko-KR" sz="28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704694" y="2343402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b="1" dirty="0"/>
          </a:p>
          <a:p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38274" y="858713"/>
            <a:ext cx="26642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 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 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0" y="1057742"/>
            <a:ext cx="1574470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1"/>
            <a:r>
              <a:rPr lang="en-US" altLang="ko-KR" sz="1400" dirty="0" smtClean="0"/>
              <a:t>.</a:t>
            </a:r>
            <a:endParaRPr lang="ko-KR" altLang="en-US" dirty="0"/>
          </a:p>
          <a:p>
            <a:r>
              <a:rPr lang="en-US" altLang="ko-KR" dirty="0" smtClean="0"/>
              <a:t>                 </a:t>
            </a:r>
          </a:p>
          <a:p>
            <a:endParaRPr lang="en-US" altLang="ko-KR" dirty="0" smtClean="0"/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128572"/>
            <a:ext cx="92974" cy="2000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3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ea typeface="Pretendard Variable"/>
              </a:rPr>
              <a:t>.</a:t>
            </a:r>
            <a:r>
              <a:rPr kumimoji="0" lang="ko-KR" altLang="ko-KR" sz="13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Pretendard Variable"/>
              </a:rPr>
              <a:t> </a:t>
            </a:r>
            <a:endParaRPr kumimoji="0" lang="ko-KR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383239" y="759971"/>
            <a:ext cx="1130548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altLang="ko-KR" sz="2000" b="1" dirty="0" smtClean="0">
                <a:solidFill>
                  <a:srgbClr val="000000"/>
                </a:solidFill>
                <a:latin typeface="inherit"/>
              </a:rPr>
              <a:t>4. </a:t>
            </a:r>
            <a:r>
              <a:rPr lang="en-US" altLang="ko-KR" dirty="0"/>
              <a:t>I2C </a:t>
            </a:r>
            <a:r>
              <a:rPr lang="en-US" altLang="ko-KR" dirty="0" smtClean="0"/>
              <a:t>LCD</a:t>
            </a:r>
            <a:endParaRPr lang="ko-KR" alt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019655" y="183537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648529" y="1160081"/>
            <a:ext cx="1089602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altLang="ko-KR" sz="1200" b="1" dirty="0">
                <a:solidFill>
                  <a:srgbClr val="666666"/>
                </a:solidFill>
                <a:latin typeface="inherit"/>
              </a:rPr>
              <a:t>1602 LCD 4 bit interface</a:t>
            </a:r>
            <a:endParaRPr lang="ko-KR" altLang="en-US" sz="1200" dirty="0">
              <a:solidFill>
                <a:srgbClr val="557A74"/>
              </a:solidFill>
              <a:latin typeface="se-nanumgothic"/>
            </a:endParaRPr>
          </a:p>
          <a:p>
            <a:pPr fontAlgn="base"/>
            <a:r>
              <a:rPr lang="en-US" altLang="ko-KR" sz="1200" b="1" dirty="0">
                <a:solidFill>
                  <a:srgbClr val="666666"/>
                </a:solidFill>
                <a:latin typeface="inherit"/>
              </a:rPr>
              <a:t>1602 character LCD</a:t>
            </a:r>
            <a:r>
              <a:rPr lang="ko-KR" altLang="en-US" sz="1200" b="1" dirty="0">
                <a:solidFill>
                  <a:srgbClr val="666666"/>
                </a:solidFill>
                <a:latin typeface="inherit"/>
              </a:rPr>
              <a:t>에 사용되는 </a:t>
            </a:r>
            <a:r>
              <a:rPr lang="en-US" altLang="ko-KR" sz="1200" b="1" dirty="0">
                <a:solidFill>
                  <a:srgbClr val="666666"/>
                </a:solidFill>
                <a:latin typeface="inherit"/>
              </a:rPr>
              <a:t>timing diagram </a:t>
            </a:r>
            <a:endParaRPr lang="ko-KR" altLang="en-US" sz="1200" dirty="0">
              <a:solidFill>
                <a:srgbClr val="557A74"/>
              </a:solidFill>
              <a:latin typeface="inherit"/>
            </a:endParaRPr>
          </a:p>
          <a:p>
            <a:pPr fontAlgn="base"/>
            <a:r>
              <a:rPr lang="en-US" altLang="ko-KR" sz="1200" b="1" dirty="0">
                <a:solidFill>
                  <a:srgbClr val="666666"/>
                </a:solidFill>
                <a:latin typeface="inherit"/>
              </a:rPr>
              <a:t>4bit mode</a:t>
            </a:r>
            <a:r>
              <a:rPr lang="ko-KR" altLang="en-US" sz="1200" b="1" dirty="0">
                <a:solidFill>
                  <a:srgbClr val="666666"/>
                </a:solidFill>
                <a:latin typeface="inherit"/>
              </a:rPr>
              <a:t>에서는 데이터를 </a:t>
            </a:r>
            <a:r>
              <a:rPr lang="ko-KR" altLang="en-US" sz="1200" b="1" dirty="0" err="1">
                <a:solidFill>
                  <a:srgbClr val="666666"/>
                </a:solidFill>
                <a:latin typeface="inherit"/>
              </a:rPr>
              <a:t>전송할때</a:t>
            </a:r>
            <a:r>
              <a:rPr lang="ko-KR" altLang="en-US" sz="1200" b="1" dirty="0">
                <a:solidFill>
                  <a:srgbClr val="666666"/>
                </a:solidFill>
                <a:latin typeface="inherit"/>
              </a:rPr>
              <a:t> 앞 </a:t>
            </a:r>
            <a:r>
              <a:rPr lang="en-US" altLang="ko-KR" sz="1200" b="1" dirty="0">
                <a:solidFill>
                  <a:srgbClr val="666666"/>
                </a:solidFill>
                <a:latin typeface="inherit"/>
              </a:rPr>
              <a:t>4bit</a:t>
            </a:r>
            <a:r>
              <a:rPr lang="ko-KR" altLang="en-US" sz="1200" b="1" dirty="0">
                <a:solidFill>
                  <a:srgbClr val="666666"/>
                </a:solidFill>
                <a:latin typeface="inherit"/>
              </a:rPr>
              <a:t>를 먼저 보내고 </a:t>
            </a:r>
            <a:r>
              <a:rPr lang="en-US" altLang="ko-KR" sz="1200" b="1" dirty="0">
                <a:solidFill>
                  <a:srgbClr val="666666"/>
                </a:solidFill>
                <a:latin typeface="inherit"/>
              </a:rPr>
              <a:t>--&gt; </a:t>
            </a:r>
            <a:r>
              <a:rPr lang="ko-KR" altLang="en-US" sz="1200" b="1" dirty="0">
                <a:solidFill>
                  <a:srgbClr val="666666"/>
                </a:solidFill>
                <a:latin typeface="inherit"/>
              </a:rPr>
              <a:t>뒤 </a:t>
            </a:r>
            <a:r>
              <a:rPr lang="en-US" altLang="ko-KR" sz="1200" b="1" dirty="0">
                <a:solidFill>
                  <a:srgbClr val="666666"/>
                </a:solidFill>
                <a:latin typeface="inherit"/>
              </a:rPr>
              <a:t>4bit</a:t>
            </a:r>
            <a:r>
              <a:rPr lang="ko-KR" altLang="en-US" sz="1200" b="1" dirty="0">
                <a:solidFill>
                  <a:srgbClr val="666666"/>
                </a:solidFill>
                <a:latin typeface="inherit"/>
              </a:rPr>
              <a:t>를 보낸다</a:t>
            </a:r>
            <a:r>
              <a:rPr lang="en-US" altLang="ko-KR" sz="1200" b="1" dirty="0">
                <a:solidFill>
                  <a:srgbClr val="666666"/>
                </a:solidFill>
                <a:latin typeface="inherit"/>
              </a:rPr>
              <a:t>.</a:t>
            </a:r>
            <a:endParaRPr lang="ko-KR" altLang="en-US" sz="1200" dirty="0">
              <a:solidFill>
                <a:srgbClr val="557A74"/>
              </a:solidFill>
              <a:latin typeface="inherit"/>
            </a:endParaRPr>
          </a:p>
          <a:p>
            <a:pPr fontAlgn="base"/>
            <a:r>
              <a:rPr lang="en-US" altLang="ko-KR" sz="1200" b="1" dirty="0" smtClean="0">
                <a:solidFill>
                  <a:srgbClr val="557A74"/>
                </a:solidFill>
                <a:latin typeface="Dotum" panose="020B0600000101010101" pitchFamily="50" charset="-127"/>
                <a:ea typeface="Dotum" panose="020B0600000101010101" pitchFamily="50" charset="-127"/>
              </a:rPr>
              <a:t> </a:t>
            </a:r>
            <a:endParaRPr lang="ko-KR" altLang="en-US" sz="1200" dirty="0"/>
          </a:p>
        </p:txBody>
      </p:sp>
      <p:pic>
        <p:nvPicPr>
          <p:cNvPr id="9218" name="Picture 2" descr="https://blog.kakaocdn.net/dn/coKx37/btqAM4t3N5F/F5UfUP8niKrx8sG0tGWX1K/img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529" y="1779861"/>
            <a:ext cx="7600806" cy="4776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직사각형 10"/>
          <p:cNvSpPr/>
          <p:nvPr/>
        </p:nvSpPr>
        <p:spPr>
          <a:xfrm>
            <a:off x="2311217" y="6473263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fontAlgn="base"/>
            <a:r>
              <a:rPr lang="en-US" altLang="ko-KR" b="1" dirty="0">
                <a:solidFill>
                  <a:srgbClr val="555555"/>
                </a:solidFill>
                <a:latin typeface="se-nanumgothic"/>
              </a:rPr>
              <a:t>&lt; LCD </a:t>
            </a:r>
            <a:r>
              <a:rPr lang="ko-KR" altLang="en-US" b="1" dirty="0">
                <a:solidFill>
                  <a:srgbClr val="555555"/>
                </a:solidFill>
                <a:latin typeface="se-nanumgothic"/>
              </a:rPr>
              <a:t>초기화 절차 </a:t>
            </a:r>
            <a:r>
              <a:rPr lang="en-US" altLang="ko-KR" b="1" dirty="0" smtClean="0">
                <a:solidFill>
                  <a:srgbClr val="555555"/>
                </a:solidFill>
                <a:latin typeface="se-nanumgothic"/>
              </a:rPr>
              <a:t>&gt;</a:t>
            </a:r>
            <a:endParaRPr lang="ko-KR" altLang="en-US" b="0" i="0" dirty="0">
              <a:solidFill>
                <a:srgbClr val="555555"/>
              </a:solidFill>
              <a:effectLst/>
              <a:latin typeface="Dotum" panose="020B0600000101010101" pitchFamily="50" charset="-127"/>
              <a:ea typeface="Dotum" panose="020B0600000101010101" pitchFamily="50" charset="-127"/>
            </a:endParaRPr>
          </a:p>
        </p:txBody>
      </p:sp>
      <p:pic>
        <p:nvPicPr>
          <p:cNvPr id="9220" name="Picture 4" descr="https://postfiles.pstatic.net/MjAyMTEwMjlfMjkw/MDAxNjM1NDg1NTg1Njgy.CWGeX-wEPnIHm-UKmIs4OsjtY4a-bhzpJWl_CmWGbekg.7lFs339X0z5ta66BVy-CyVv76Lb5p_N6YjSA2LuZYp8g.PNG.sikwon1/image.png?type=w77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590" y="3039228"/>
            <a:ext cx="3632988" cy="992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7864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379379" y="750076"/>
            <a:ext cx="11252844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" name="직각 삼각형 4"/>
          <p:cNvSpPr/>
          <p:nvPr/>
        </p:nvSpPr>
        <p:spPr>
          <a:xfrm>
            <a:off x="11445880" y="-2"/>
            <a:ext cx="1099162" cy="753207"/>
          </a:xfrm>
          <a:prstGeom prst="rtTriangle">
            <a:avLst/>
          </a:prstGeom>
          <a:effectLst>
            <a:outerShdw blurRad="50800" dist="38100" algn="l" rotWithShape="0">
              <a:prstClr val="black">
                <a:alpha val="5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10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79379" y="222713"/>
            <a:ext cx="17043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 smtClean="0"/>
              <a:t> I2C </a:t>
            </a:r>
            <a:r>
              <a:rPr lang="ko-KR" altLang="en-US" sz="2800" b="1" dirty="0" smtClean="0"/>
              <a:t>통신</a:t>
            </a:r>
            <a:endParaRPr lang="en-US" altLang="ko-KR" sz="28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704694" y="2343402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b="1" dirty="0"/>
          </a:p>
          <a:p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38274" y="858713"/>
            <a:ext cx="26642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 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 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0" y="1057742"/>
            <a:ext cx="1574470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1"/>
            <a:r>
              <a:rPr lang="en-US" altLang="ko-KR" sz="1400" dirty="0" smtClean="0"/>
              <a:t>.</a:t>
            </a:r>
            <a:endParaRPr lang="ko-KR" altLang="en-US" dirty="0"/>
          </a:p>
          <a:p>
            <a:r>
              <a:rPr lang="en-US" altLang="ko-KR" dirty="0" smtClean="0"/>
              <a:t>                 </a:t>
            </a:r>
          </a:p>
          <a:p>
            <a:endParaRPr lang="en-US" altLang="ko-KR" dirty="0" smtClean="0"/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128572"/>
            <a:ext cx="92974" cy="2000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3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ea typeface="Pretendard Variable"/>
              </a:rPr>
              <a:t>.</a:t>
            </a:r>
            <a:r>
              <a:rPr kumimoji="0" lang="ko-KR" altLang="ko-KR" sz="13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Pretendard Variable"/>
              </a:rPr>
              <a:t> </a:t>
            </a:r>
            <a:endParaRPr kumimoji="0" lang="ko-KR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383239" y="759971"/>
            <a:ext cx="1130548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altLang="ko-KR" sz="2000" b="1" dirty="0" smtClean="0">
                <a:solidFill>
                  <a:srgbClr val="000000"/>
                </a:solidFill>
                <a:latin typeface="inherit"/>
              </a:rPr>
              <a:t>4. </a:t>
            </a:r>
            <a:r>
              <a:rPr lang="en-US" altLang="ko-KR" dirty="0"/>
              <a:t>I2C </a:t>
            </a:r>
            <a:r>
              <a:rPr lang="en-US" altLang="ko-KR" dirty="0" smtClean="0"/>
              <a:t>LCD</a:t>
            </a:r>
            <a:endParaRPr lang="ko-KR" alt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019655" y="183537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/>
          </a:p>
        </p:txBody>
      </p:sp>
      <p:pic>
        <p:nvPicPr>
          <p:cNvPr id="7170" name="Picture 2" descr="https://postfiles.pstatic.net/MjAyMTEwMjlfMjg2/MDAxNjM1NDg2MTAyNTE0.R1aKWoqxdD-Q55nUfNmLVmaQllfcTJ0wsEqgtjHtLuYg.-HgqgOT1JIeI-ErVVWoEdS2BNg6Eb3Pihn2Sw5Y9VMkg.PNG.sikwon1/image.png?type=w77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425" y="1320378"/>
            <a:ext cx="6410325" cy="5336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019655" y="6584996"/>
            <a:ext cx="49776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&lt; </a:t>
            </a:r>
            <a:r>
              <a:rPr lang="ko-KR" altLang="en-US" dirty="0"/>
              <a:t>텍스트 </a:t>
            </a:r>
            <a:r>
              <a:rPr lang="en-US" altLang="ko-KR" dirty="0"/>
              <a:t>LCD</a:t>
            </a:r>
            <a:r>
              <a:rPr lang="ko-KR" altLang="en-US" dirty="0"/>
              <a:t>의 구동 </a:t>
            </a:r>
            <a:r>
              <a:rPr lang="en-US" altLang="ko-KR" dirty="0"/>
              <a:t>IC HD44780</a:t>
            </a:r>
            <a:r>
              <a:rPr lang="ko-KR" altLang="en-US" dirty="0"/>
              <a:t>의 명령어</a:t>
            </a:r>
            <a:r>
              <a:rPr lang="en-US" altLang="ko-KR" dirty="0" smtClean="0"/>
              <a:t>&gt;</a:t>
            </a:r>
            <a:endParaRPr lang="ko-KR" altLang="en-US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62970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379379" y="750076"/>
            <a:ext cx="11252844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" name="직각 삼각형 4"/>
          <p:cNvSpPr/>
          <p:nvPr/>
        </p:nvSpPr>
        <p:spPr>
          <a:xfrm>
            <a:off x="11445880" y="-2"/>
            <a:ext cx="886945" cy="753207"/>
          </a:xfrm>
          <a:prstGeom prst="rtTriangle">
            <a:avLst/>
          </a:prstGeom>
          <a:effectLst>
            <a:outerShdw blurRad="50800" dist="38100" algn="l" rotWithShape="0">
              <a:prstClr val="black">
                <a:alpha val="5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11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79379" y="222713"/>
            <a:ext cx="17043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 smtClean="0"/>
              <a:t> I2C </a:t>
            </a:r>
            <a:r>
              <a:rPr lang="ko-KR" altLang="en-US" sz="2800" b="1" dirty="0" smtClean="0"/>
              <a:t>통신</a:t>
            </a:r>
            <a:endParaRPr lang="en-US" altLang="ko-KR" sz="28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704694" y="2343402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b="1" dirty="0"/>
          </a:p>
          <a:p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38274" y="858713"/>
            <a:ext cx="26642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 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 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0" y="1057742"/>
            <a:ext cx="1574470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1"/>
            <a:r>
              <a:rPr lang="en-US" altLang="ko-KR" sz="1400" dirty="0" smtClean="0"/>
              <a:t>.</a:t>
            </a:r>
            <a:endParaRPr lang="ko-KR" altLang="en-US" dirty="0"/>
          </a:p>
          <a:p>
            <a:r>
              <a:rPr lang="en-US" altLang="ko-KR" dirty="0" smtClean="0"/>
              <a:t>                 </a:t>
            </a:r>
          </a:p>
          <a:p>
            <a:endParaRPr lang="en-US" altLang="ko-KR" dirty="0" smtClean="0"/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128572"/>
            <a:ext cx="92974" cy="2000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3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ea typeface="Pretendard Variable"/>
              </a:rPr>
              <a:t>.</a:t>
            </a:r>
            <a:r>
              <a:rPr kumimoji="0" lang="ko-KR" altLang="ko-KR" sz="13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Pretendard Variable"/>
              </a:rPr>
              <a:t> </a:t>
            </a:r>
            <a:endParaRPr kumimoji="0" lang="ko-KR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383239" y="759971"/>
            <a:ext cx="1130548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altLang="ko-KR" sz="2000" b="1" dirty="0" smtClean="0">
                <a:solidFill>
                  <a:srgbClr val="000000"/>
                </a:solidFill>
                <a:latin typeface="inherit"/>
              </a:rPr>
              <a:t>4. </a:t>
            </a:r>
            <a:r>
              <a:rPr lang="en-US" altLang="ko-KR" dirty="0"/>
              <a:t>I2C </a:t>
            </a:r>
            <a:r>
              <a:rPr lang="en-US" altLang="ko-KR" dirty="0" smtClean="0"/>
              <a:t>LCD</a:t>
            </a:r>
            <a:endParaRPr lang="ko-KR" alt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019655" y="183537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/>
          </a:p>
        </p:txBody>
      </p:sp>
      <p:pic>
        <p:nvPicPr>
          <p:cNvPr id="10242" name="Picture 2" descr="https://postfiles.pstatic.net/MjAyMTEwMjlfMTQx/MDAxNjM1NDk5MTExMTQ5.TOtkrZKv_iIJMOXolSgg4JUVtNUEezn-37lZMpZjYakg.8gV-gNYAxluhQeMGpCSiv6YfUlCgYfX3dEmT1wzLOJUg.PNG.sikwon1/image.png?type=w77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095" y="1061886"/>
            <a:ext cx="7077075" cy="5700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379379" y="750076"/>
            <a:ext cx="11252844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" name="직각 삼각형 4"/>
          <p:cNvSpPr/>
          <p:nvPr/>
        </p:nvSpPr>
        <p:spPr>
          <a:xfrm>
            <a:off x="11445880" y="-2"/>
            <a:ext cx="1025842" cy="753207"/>
          </a:xfrm>
          <a:prstGeom prst="rtTriangle">
            <a:avLst/>
          </a:prstGeom>
          <a:effectLst>
            <a:outerShdw blurRad="50800" dist="38100" algn="l" rotWithShape="0">
              <a:prstClr val="black">
                <a:alpha val="5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12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79379" y="222713"/>
            <a:ext cx="17043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 smtClean="0"/>
              <a:t> I2C </a:t>
            </a:r>
            <a:r>
              <a:rPr lang="ko-KR" altLang="en-US" sz="2800" b="1" dirty="0" smtClean="0"/>
              <a:t>통신</a:t>
            </a:r>
            <a:endParaRPr lang="en-US" altLang="ko-KR" sz="28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704694" y="2343402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b="1" dirty="0"/>
          </a:p>
          <a:p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38274" y="858713"/>
            <a:ext cx="26642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 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 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0" y="1057742"/>
            <a:ext cx="1574470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1"/>
            <a:r>
              <a:rPr lang="en-US" altLang="ko-KR" sz="1400" dirty="0" smtClean="0"/>
              <a:t>.</a:t>
            </a:r>
            <a:endParaRPr lang="ko-KR" altLang="en-US" dirty="0"/>
          </a:p>
          <a:p>
            <a:r>
              <a:rPr lang="en-US" altLang="ko-KR" dirty="0" smtClean="0"/>
              <a:t>                 </a:t>
            </a:r>
          </a:p>
          <a:p>
            <a:endParaRPr lang="en-US" altLang="ko-KR" dirty="0" smtClean="0"/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128572"/>
            <a:ext cx="92974" cy="2000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3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ea typeface="Pretendard Variable"/>
              </a:rPr>
              <a:t>.</a:t>
            </a:r>
            <a:r>
              <a:rPr kumimoji="0" lang="ko-KR" altLang="ko-KR" sz="13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Pretendard Variable"/>
              </a:rPr>
              <a:t> </a:t>
            </a:r>
            <a:endParaRPr kumimoji="0" lang="ko-KR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383239" y="759971"/>
            <a:ext cx="1130548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altLang="ko-KR" sz="2000" b="1" dirty="0" smtClean="0">
                <a:solidFill>
                  <a:srgbClr val="000000"/>
                </a:solidFill>
                <a:latin typeface="inherit"/>
              </a:rPr>
              <a:t>4. </a:t>
            </a:r>
            <a:r>
              <a:rPr lang="en-US" altLang="ko-KR" dirty="0"/>
              <a:t>I2C </a:t>
            </a:r>
            <a:r>
              <a:rPr lang="en-US" altLang="ko-KR" dirty="0" smtClean="0"/>
              <a:t>LCD</a:t>
            </a:r>
            <a:endParaRPr lang="ko-KR" alt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019655" y="183537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FCFF0E-08E7-C4F6-AB1F-5EE4EA42BE1E}"/>
              </a:ext>
            </a:extLst>
          </p:cNvPr>
          <p:cNvSpPr txBox="1"/>
          <p:nvPr/>
        </p:nvSpPr>
        <p:spPr>
          <a:xfrm>
            <a:off x="889425" y="1320378"/>
            <a:ext cx="73685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ko-KR" altLang="en-US" sz="14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729" y="1301583"/>
            <a:ext cx="6025830" cy="5498981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5255" y="1301583"/>
            <a:ext cx="5388551" cy="3480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886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379379" y="750076"/>
            <a:ext cx="11252844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" name="직각 삼각형 4"/>
          <p:cNvSpPr/>
          <p:nvPr/>
        </p:nvSpPr>
        <p:spPr>
          <a:xfrm>
            <a:off x="11445880" y="-2"/>
            <a:ext cx="910095" cy="753207"/>
          </a:xfrm>
          <a:prstGeom prst="rtTriangle">
            <a:avLst/>
          </a:prstGeom>
          <a:effectLst>
            <a:outerShdw blurRad="50800" dist="38100" algn="l" rotWithShape="0">
              <a:prstClr val="black">
                <a:alpha val="5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13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79379" y="222713"/>
            <a:ext cx="17043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 smtClean="0"/>
              <a:t> I2C </a:t>
            </a:r>
            <a:r>
              <a:rPr lang="ko-KR" altLang="en-US" sz="2800" b="1" dirty="0" smtClean="0"/>
              <a:t>통신</a:t>
            </a:r>
            <a:endParaRPr lang="en-US" altLang="ko-KR" sz="28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704694" y="2343402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b="1" dirty="0"/>
          </a:p>
          <a:p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38274" y="858713"/>
            <a:ext cx="26642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 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 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0" y="1057742"/>
            <a:ext cx="1574470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1"/>
            <a:r>
              <a:rPr lang="en-US" altLang="ko-KR" sz="1400" dirty="0" smtClean="0"/>
              <a:t>.</a:t>
            </a:r>
            <a:endParaRPr lang="ko-KR" altLang="en-US" dirty="0"/>
          </a:p>
          <a:p>
            <a:r>
              <a:rPr lang="en-US" altLang="ko-KR" dirty="0" smtClean="0"/>
              <a:t>                 </a:t>
            </a:r>
          </a:p>
          <a:p>
            <a:endParaRPr lang="en-US" altLang="ko-KR" dirty="0" smtClean="0"/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128572"/>
            <a:ext cx="92974" cy="2000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3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ea typeface="Pretendard Variable"/>
              </a:rPr>
              <a:t>.</a:t>
            </a:r>
            <a:r>
              <a:rPr kumimoji="0" lang="ko-KR" altLang="ko-KR" sz="13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Pretendard Variable"/>
              </a:rPr>
              <a:t> </a:t>
            </a:r>
            <a:endParaRPr kumimoji="0" lang="ko-KR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383239" y="759971"/>
            <a:ext cx="1130548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altLang="ko-KR" sz="2000" b="1" dirty="0" smtClean="0">
                <a:solidFill>
                  <a:srgbClr val="000000"/>
                </a:solidFill>
                <a:latin typeface="inherit"/>
              </a:rPr>
              <a:t>4. </a:t>
            </a:r>
            <a:r>
              <a:rPr lang="en-US" altLang="ko-KR" dirty="0"/>
              <a:t>I2C </a:t>
            </a:r>
            <a:r>
              <a:rPr lang="en-US" altLang="ko-KR" dirty="0" smtClean="0"/>
              <a:t>LCD</a:t>
            </a:r>
            <a:endParaRPr lang="ko-KR" alt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019655" y="183537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/>
          </a:p>
        </p:txBody>
      </p:sp>
      <p:pic>
        <p:nvPicPr>
          <p:cNvPr id="12290" name="Picture 2" descr="https://blog.kakaocdn.net/dn/c00WF5/btrukgMPc8R/uPzG4UNvokYFErDzbW1Cik/im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059" y="1424215"/>
            <a:ext cx="6600825" cy="990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2" name="Picture 4" descr="https://blog.kakaocdn.net/dn/bXDnJd/btruezsWcAC/20hH7XNPdZWhLDolu3B5ok/img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4271" y="3351352"/>
            <a:ext cx="5791200" cy="1266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직사각형 10"/>
          <p:cNvSpPr/>
          <p:nvPr/>
        </p:nvSpPr>
        <p:spPr>
          <a:xfrm>
            <a:off x="1049471" y="1180413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/>
            <a:r>
              <a:rPr lang="en-US" altLang="ko-KR" dirty="0">
                <a:solidFill>
                  <a:srgbClr val="555555"/>
                </a:solidFill>
                <a:latin typeface="HelveticaNeue"/>
              </a:rPr>
              <a:t>- Master</a:t>
            </a:r>
            <a:r>
              <a:rPr lang="ko-KR" altLang="en-US" dirty="0">
                <a:solidFill>
                  <a:srgbClr val="555555"/>
                </a:solidFill>
                <a:latin typeface="HelveticaNeue"/>
              </a:rPr>
              <a:t>의 </a:t>
            </a:r>
            <a:r>
              <a:rPr lang="en-US" altLang="ko-KR" dirty="0">
                <a:solidFill>
                  <a:srgbClr val="555555"/>
                </a:solidFill>
                <a:latin typeface="HelveticaNeue"/>
              </a:rPr>
              <a:t>SCL </a:t>
            </a:r>
            <a:r>
              <a:rPr lang="ko-KR" altLang="en-US" dirty="0">
                <a:solidFill>
                  <a:srgbClr val="555555"/>
                </a:solidFill>
                <a:latin typeface="HelveticaNeue"/>
              </a:rPr>
              <a:t>주파수</a:t>
            </a:r>
            <a:r>
              <a:rPr lang="en-US" altLang="ko-KR" dirty="0">
                <a:solidFill>
                  <a:srgbClr val="555555"/>
                </a:solidFill>
                <a:latin typeface="HelveticaNeue"/>
              </a:rPr>
              <a:t>( </a:t>
            </a:r>
            <a:r>
              <a:rPr lang="en-US" altLang="ko-KR" dirty="0" err="1">
                <a:solidFill>
                  <a:srgbClr val="555555"/>
                </a:solidFill>
                <a:latin typeface="HelveticaNeue"/>
              </a:rPr>
              <a:t>BitRate</a:t>
            </a:r>
            <a:r>
              <a:rPr lang="en-US" altLang="ko-KR" dirty="0">
                <a:solidFill>
                  <a:srgbClr val="555555"/>
                </a:solidFill>
                <a:latin typeface="HelveticaNeue"/>
              </a:rPr>
              <a:t>)</a:t>
            </a:r>
            <a:r>
              <a:rPr lang="ko-KR" altLang="en-US" dirty="0">
                <a:solidFill>
                  <a:srgbClr val="555555"/>
                </a:solidFill>
                <a:latin typeface="HelveticaNeue"/>
              </a:rPr>
              <a:t>를 저장하는 </a:t>
            </a:r>
            <a:r>
              <a:rPr lang="ko-KR" altLang="en-US" dirty="0" smtClean="0">
                <a:solidFill>
                  <a:srgbClr val="555555"/>
                </a:solidFill>
                <a:latin typeface="HelveticaNeue"/>
              </a:rPr>
              <a:t>레지스터</a:t>
            </a:r>
            <a:endParaRPr lang="ko-KR" altLang="en-US" b="0" i="0" dirty="0">
              <a:solidFill>
                <a:srgbClr val="555555"/>
              </a:solidFill>
              <a:effectLst/>
              <a:latin typeface="Dotum" panose="020B0600000101010101" pitchFamily="50" charset="-127"/>
              <a:ea typeface="Dotum" panose="020B0600000101010101" pitchFamily="50" charset="-127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1204386" y="2730030"/>
            <a:ext cx="74725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altLang="ko-KR" dirty="0">
                <a:solidFill>
                  <a:srgbClr val="555555"/>
                </a:solidFill>
                <a:latin typeface="HelveticaNeue"/>
              </a:rPr>
              <a:t>- Master</a:t>
            </a:r>
            <a:r>
              <a:rPr lang="ko-KR" altLang="en-US" dirty="0">
                <a:solidFill>
                  <a:srgbClr val="555555"/>
                </a:solidFill>
                <a:latin typeface="HelveticaNeue"/>
              </a:rPr>
              <a:t>의 </a:t>
            </a:r>
            <a:r>
              <a:rPr lang="en-US" altLang="ko-KR" dirty="0">
                <a:solidFill>
                  <a:srgbClr val="555555"/>
                </a:solidFill>
                <a:latin typeface="HelveticaNeue"/>
              </a:rPr>
              <a:t>SCL </a:t>
            </a:r>
            <a:r>
              <a:rPr lang="ko-KR" altLang="en-US" dirty="0">
                <a:solidFill>
                  <a:srgbClr val="555555"/>
                </a:solidFill>
                <a:latin typeface="HelveticaNeue"/>
              </a:rPr>
              <a:t>주파수를 구하기 위해서 아래의 공식 </a:t>
            </a:r>
            <a:r>
              <a:rPr lang="ko-KR" altLang="en-US" dirty="0" smtClean="0">
                <a:solidFill>
                  <a:srgbClr val="555555"/>
                </a:solidFill>
                <a:latin typeface="HelveticaNeue"/>
              </a:rPr>
              <a:t>사용</a:t>
            </a:r>
            <a:endParaRPr lang="ko-KR" altLang="en-US" b="0" i="0" dirty="0">
              <a:solidFill>
                <a:srgbClr val="555555"/>
              </a:solidFill>
              <a:effectLst/>
              <a:latin typeface="Dotum" panose="020B0600000101010101" pitchFamily="50" charset="-127"/>
              <a:ea typeface="Dotum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14332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4719</TotalTime>
  <Words>509</Words>
  <Application>Microsoft Office PowerPoint</Application>
  <PresentationFormat>와이드스크린</PresentationFormat>
  <Paragraphs>146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2" baseType="lpstr">
      <vt:lpstr>HelveticaNeue</vt:lpstr>
      <vt:lpstr>inherit</vt:lpstr>
      <vt:lpstr>Pretendard Variable</vt:lpstr>
      <vt:lpstr>se-nanumgothic</vt:lpstr>
      <vt:lpstr>Dotum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kccistc</dc:creator>
  <cp:lastModifiedBy>user</cp:lastModifiedBy>
  <cp:revision>507</cp:revision>
  <dcterms:created xsi:type="dcterms:W3CDTF">2021-09-16T07:35:26Z</dcterms:created>
  <dcterms:modified xsi:type="dcterms:W3CDTF">2026-06-29T01:51:43Z</dcterms:modified>
</cp:coreProperties>
</file>